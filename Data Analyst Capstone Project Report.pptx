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14.xml" ContentType="application/vnd.openxmlformats-officedocument.presentationml.tags+xml"/>
  <Override PartName="/ppt/tags/tag15.xml" ContentType="application/vnd.openxmlformats-officedocument.presentationml.tags+xml"/>
  <Override PartName="/ppt/charts/chart3.xml" ContentType="application/vnd.openxmlformats-officedocument.drawingml.chart+xml"/>
  <Override PartName="/ppt/charts/chart4.xml" ContentType="application/vnd.openxmlformats-officedocument.drawingml.chart+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56" r:id="rId5"/>
    <p:sldId id="257" r:id="rId6"/>
    <p:sldId id="258" r:id="rId7"/>
    <p:sldId id="259" r:id="rId8"/>
    <p:sldId id="286" r:id="rId9"/>
    <p:sldId id="287" r:id="rId10"/>
    <p:sldId id="274" r:id="rId11"/>
    <p:sldId id="275" r:id="rId12"/>
    <p:sldId id="262" r:id="rId13"/>
    <p:sldId id="263" r:id="rId14"/>
    <p:sldId id="264" r:id="rId15"/>
    <p:sldId id="265" r:id="rId16"/>
    <p:sldId id="288" r:id="rId17"/>
    <p:sldId id="267" r:id="rId18"/>
    <p:sldId id="268" r:id="rId19"/>
    <p:sldId id="269" r:id="rId20"/>
    <p:sldId id="270" r:id="rId21"/>
    <p:sldId id="271" r:id="rId22"/>
    <p:sldId id="272" r:id="rId23"/>
    <p:sldId id="289" r:id="rId24"/>
  </p:sldIdLst>
  <p:sldSz cx="12192000" cy="6858000"/>
  <p:notesSz cx="6858000" cy="18573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1480" autoAdjust="0"/>
  </p:normalViewPr>
  <p:slideViewPr>
    <p:cSldViewPr snapToGrid="0">
      <p:cViewPr varScale="1">
        <p:scale>
          <a:sx n="77" d="100"/>
          <a:sy n="77" d="100"/>
        </p:scale>
        <p:origin x="43" y="72"/>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b="1"/>
            </a:pPr>
            <a:r>
              <a:rPr lang="en-US"/>
              <a:t>Top 10 Languages for this year</a:t>
            </a:r>
          </a:p>
        </c:rich>
      </c:tx>
      <c:layout/>
      <c:overlay val="0"/>
    </c:title>
    <c:autoTitleDeleted val="0"/>
    <c:plotArea>
      <c:layout/>
      <c:barChart>
        <c:barDir val="col"/>
        <c:grouping val="clustered"/>
        <c:varyColors val="1"/>
        <c:ser>
          <c:idx val="0"/>
          <c:order val="0"/>
          <c:tx>
            <c:strRef>
              <c:f>Sheet1!$B$1</c:f>
              <c:strCache>
                <c:ptCount val="1"/>
                <c:pt idx="0">
                  <c:v>Count</c:v>
                </c:pt>
              </c:strCache>
            </c:strRef>
          </c:tx>
          <c:spPr>
            <a:solidFill>
              <a:srgbClr val="1F77B4"/>
            </a:solidFill>
          </c:spPr>
          <c:invertIfNegative val="1"/>
          <c:cat>
            <c:strRef>
              <c:f>Sheet1!$A$2:$A$11</c:f>
              <c:strCache>
                <c:ptCount val="10"/>
                <c:pt idx="0">
                  <c:v>JavaScript</c:v>
                </c:pt>
                <c:pt idx="1">
                  <c:v>HTML/CSS</c:v>
                </c:pt>
                <c:pt idx="2">
                  <c:v>Python</c:v>
                </c:pt>
                <c:pt idx="3">
                  <c:v>SQL</c:v>
                </c:pt>
                <c:pt idx="4">
                  <c:v>TypeScript</c:v>
                </c:pt>
                <c:pt idx="5">
                  <c:v>Bash/Shell</c:v>
                </c:pt>
                <c:pt idx="6">
                  <c:v>Java</c:v>
                </c:pt>
                <c:pt idx="7">
                  <c:v>C#</c:v>
                </c:pt>
                <c:pt idx="8">
                  <c:v>C++</c:v>
                </c:pt>
                <c:pt idx="9">
                  <c:v>C</c:v>
                </c:pt>
              </c:strCache>
            </c:strRef>
          </c:cat>
          <c:val>
            <c:numRef>
              <c:f>Sheet1!$B$2:$B$11</c:f>
              <c:numCache>
                <c:formatCode>General</c:formatCode>
                <c:ptCount val="10"/>
                <c:pt idx="0">
                  <c:v>37600</c:v>
                </c:pt>
                <c:pt idx="1">
                  <c:v>31900</c:v>
                </c:pt>
                <c:pt idx="2">
                  <c:v>30600</c:v>
                </c:pt>
                <c:pt idx="3">
                  <c:v>30500</c:v>
                </c:pt>
                <c:pt idx="4">
                  <c:v>23100</c:v>
                </c:pt>
                <c:pt idx="5">
                  <c:v>20300</c:v>
                </c:pt>
                <c:pt idx="6">
                  <c:v>18200</c:v>
                </c:pt>
                <c:pt idx="7">
                  <c:v>16300</c:v>
                </c:pt>
                <c:pt idx="8">
                  <c:v>13800</c:v>
                </c:pt>
                <c:pt idx="9">
                  <c:v>12100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785-4E6D-97E5-697D4084635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latin typeface="Calibri"/>
              </a:defRPr>
            </a:pPr>
            <a:endParaRPr lang="en-US"/>
          </a:p>
        </c:txPr>
        <c:crossAx val="-2113994440"/>
        <c:crosses val="autoZero"/>
        <c:auto val="1"/>
        <c:lblAlgn val="ctr"/>
        <c:lblOffset val="100"/>
        <c:noMultiLvlLbl val="0"/>
      </c:catAx>
      <c:valAx>
        <c:axId val="-2113994440"/>
        <c:scaling>
          <c:orientation val="minMax"/>
        </c:scaling>
        <c:delete val="0"/>
        <c:axPos val="l"/>
        <c:majorGridlines/>
        <c:title>
          <c:tx>
            <c:rich>
              <a:bodyPr/>
              <a:lstStyle/>
              <a:p>
                <a:r>
                  <a:rPr lang="en-US"/>
                  <a:t>Count</a:t>
                </a:r>
              </a:p>
            </c:rich>
          </c:tx>
          <c:layout/>
          <c:overlay val="0"/>
        </c:title>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b="1"/>
            </a:pPr>
            <a:r>
              <a:rPr lang="en-US"/>
              <a:t>Top 10 Languages for next year</a:t>
            </a:r>
          </a:p>
        </c:rich>
      </c:tx>
      <c:layout/>
      <c:overlay val="0"/>
    </c:title>
    <c:autoTitleDeleted val="0"/>
    <c:plotArea>
      <c:layout>
        <c:manualLayout>
          <c:layoutTarget val="inner"/>
          <c:xMode val="edge"/>
          <c:yMode val="edge"/>
          <c:x val="0.15471086599408429"/>
          <c:y val="8.9094503871878672E-2"/>
          <c:w val="0.81254972384674384"/>
          <c:h val="0.70535889697862086"/>
        </c:manualLayout>
      </c:layout>
      <c:barChart>
        <c:barDir val="col"/>
        <c:grouping val="clustered"/>
        <c:varyColors val="1"/>
        <c:ser>
          <c:idx val="0"/>
          <c:order val="0"/>
          <c:tx>
            <c:strRef>
              <c:f>Sheet1!$B$1</c:f>
              <c:strCache>
                <c:ptCount val="1"/>
                <c:pt idx="0">
                  <c:v>Count</c:v>
                </c:pt>
              </c:strCache>
            </c:strRef>
          </c:tx>
          <c:spPr>
            <a:solidFill>
              <a:srgbClr val="1F77B4"/>
            </a:solidFill>
          </c:spPr>
          <c:invertIfNegative val="1"/>
          <c:cat>
            <c:strRef>
              <c:f>Sheet1!$A$2:$A$11</c:f>
              <c:strCache>
                <c:ptCount val="10"/>
                <c:pt idx="0">
                  <c:v>Python</c:v>
                </c:pt>
                <c:pt idx="1">
                  <c:v>JavaScript</c:v>
                </c:pt>
                <c:pt idx="2">
                  <c:v>SQL</c:v>
                </c:pt>
                <c:pt idx="3">
                  <c:v>HTML/CSS</c:v>
                </c:pt>
                <c:pt idx="4">
                  <c:v>TypeScript</c:v>
                </c:pt>
                <c:pt idx="5">
                  <c:v>Rust</c:v>
                </c:pt>
                <c:pt idx="6">
                  <c:v>Go</c:v>
                </c:pt>
                <c:pt idx="7">
                  <c:v>Bash/Shell</c:v>
                </c:pt>
                <c:pt idx="8">
                  <c:v>C#</c:v>
                </c:pt>
                <c:pt idx="9">
                  <c:v>C++</c:v>
                </c:pt>
              </c:strCache>
            </c:strRef>
          </c:cat>
          <c:val>
            <c:numRef>
              <c:f>Sheet1!$B$2:$B$11</c:f>
              <c:numCache>
                <c:formatCode>General</c:formatCode>
                <c:ptCount val="10"/>
                <c:pt idx="0">
                  <c:v>25000</c:v>
                </c:pt>
                <c:pt idx="1">
                  <c:v>23800</c:v>
                </c:pt>
                <c:pt idx="2">
                  <c:v>22300</c:v>
                </c:pt>
                <c:pt idx="3">
                  <c:v>20600</c:v>
                </c:pt>
                <c:pt idx="4">
                  <c:v>20100</c:v>
                </c:pt>
                <c:pt idx="5">
                  <c:v>17200</c:v>
                </c:pt>
                <c:pt idx="6">
                  <c:v>13800</c:v>
                </c:pt>
                <c:pt idx="7">
                  <c:v>13700</c:v>
                </c:pt>
                <c:pt idx="8">
                  <c:v>12900</c:v>
                </c:pt>
                <c:pt idx="9">
                  <c:v>10900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8DE-4655-B46C-9BD8DFDB6B3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latin typeface="Calibri"/>
              </a:defRPr>
            </a:pPr>
            <a:endParaRPr lang="en-US"/>
          </a:p>
        </c:txPr>
        <c:crossAx val="-2113994440"/>
        <c:crosses val="autoZero"/>
        <c:auto val="1"/>
        <c:lblAlgn val="ctr"/>
        <c:lblOffset val="100"/>
        <c:noMultiLvlLbl val="0"/>
      </c:catAx>
      <c:valAx>
        <c:axId val="-2113994440"/>
        <c:scaling>
          <c:orientation val="minMax"/>
        </c:scaling>
        <c:delete val="0"/>
        <c:axPos val="l"/>
        <c:majorGridlines/>
        <c:title>
          <c:tx>
            <c:rich>
              <a:bodyPr/>
              <a:lstStyle/>
              <a:p>
                <a:r>
                  <a:rPr lang="en-US"/>
                  <a:t>Count</a:t>
                </a:r>
              </a:p>
            </c:rich>
          </c:tx>
          <c:layout/>
          <c:overlay val="0"/>
        </c:title>
        <c:numFmt formatCode="General" sourceLinked="1"/>
        <c:majorTickMark val="out"/>
        <c:minorTickMark val="none"/>
        <c:tickLblPos val="nextTo"/>
        <c:txPr>
          <a:bodyPr/>
          <a:lstStyle/>
          <a:p>
            <a:pPr>
              <a:defRPr sz="9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b="1"/>
            </a:pPr>
            <a:r>
              <a:rPr lang="en-US"/>
              <a:t>Top 10 databases for the current year</a:t>
            </a:r>
          </a:p>
        </c:rich>
      </c:tx>
      <c:layout/>
      <c:overlay val="0"/>
    </c:title>
    <c:autoTitleDeleted val="0"/>
    <c:plotArea>
      <c:layout>
        <c:manualLayout>
          <c:layoutTarget val="inner"/>
          <c:xMode val="edge"/>
          <c:yMode val="edge"/>
          <c:x val="0.16670953549539019"/>
          <c:y val="0.11793771125630872"/>
          <c:w val="0.80998783659536766"/>
          <c:h val="0.79586721538395822"/>
        </c:manualLayout>
      </c:layout>
      <c:barChart>
        <c:barDir val="col"/>
        <c:grouping val="clustered"/>
        <c:varyColors val="1"/>
        <c:ser>
          <c:idx val="0"/>
          <c:order val="0"/>
          <c:tx>
            <c:strRef>
              <c:f>Sheet1!$B$1</c:f>
              <c:strCache>
                <c:ptCount val="1"/>
                <c:pt idx="0">
                  <c:v>Count</c:v>
                </c:pt>
              </c:strCache>
            </c:strRef>
          </c:tx>
          <c:spPr>
            <a:solidFill>
              <a:srgbClr val="1F77B4"/>
            </a:solidFill>
          </c:spPr>
          <c:invertIfNegative val="1"/>
          <c:cat>
            <c:strRef>
              <c:f>Sheet1!$A$2:$A$11</c:f>
              <c:strCache>
                <c:ptCount val="10"/>
                <c:pt idx="0">
                  <c:v>PostgreSQL</c:v>
                </c:pt>
                <c:pt idx="1">
                  <c:v>MySQL</c:v>
                </c:pt>
                <c:pt idx="2">
                  <c:v>SQLite</c:v>
                </c:pt>
                <c:pt idx="3">
                  <c:v>Microsoft SQL Server</c:v>
                </c:pt>
                <c:pt idx="4">
                  <c:v>MongoDB</c:v>
                </c:pt>
                <c:pt idx="5">
                  <c:v>Redis</c:v>
                </c:pt>
                <c:pt idx="6">
                  <c:v>MariaDB</c:v>
                </c:pt>
                <c:pt idx="7">
                  <c:v>Elasticsearch</c:v>
                </c:pt>
                <c:pt idx="8">
                  <c:v>Oracle</c:v>
                </c:pt>
                <c:pt idx="9">
                  <c:v>Dynamodb</c:v>
                </c:pt>
              </c:strCache>
            </c:strRef>
          </c:cat>
          <c:val>
            <c:numRef>
              <c:f>Sheet1!$B$2:$B$11</c:f>
              <c:numCache>
                <c:formatCode>General</c:formatCode>
                <c:ptCount val="10"/>
                <c:pt idx="0">
                  <c:v>25500</c:v>
                </c:pt>
                <c:pt idx="1">
                  <c:v>21100</c:v>
                </c:pt>
                <c:pt idx="2">
                  <c:v>17300</c:v>
                </c:pt>
                <c:pt idx="3">
                  <c:v>13200</c:v>
                </c:pt>
                <c:pt idx="4">
                  <c:v>13000</c:v>
                </c:pt>
                <c:pt idx="5">
                  <c:v>10400</c:v>
                </c:pt>
                <c:pt idx="6">
                  <c:v>8950</c:v>
                </c:pt>
                <c:pt idx="7">
                  <c:v>6450</c:v>
                </c:pt>
                <c:pt idx="8">
                  <c:v>5250</c:v>
                </c:pt>
                <c:pt idx="9">
                  <c:v>4050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43C-4E86-8C35-F0BE4310275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title>
          <c:tx>
            <c:rich>
              <a:bodyPr/>
              <a:lstStyle/>
              <a:p>
                <a:r>
                  <a:rPr lang="en-US"/>
                  <a:t>Count</a:t>
                </a:r>
              </a:p>
            </c:rich>
          </c:tx>
          <c:layout/>
          <c:overlay val="0"/>
        </c:title>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b="1"/>
            </a:pPr>
            <a:r>
              <a:rPr lang="en-US"/>
              <a:t>Top 10 databases for the next year</a:t>
            </a:r>
          </a:p>
        </c:rich>
      </c:tx>
      <c:layout/>
      <c:overlay val="0"/>
    </c:title>
    <c:autoTitleDeleted val="0"/>
    <c:plotArea>
      <c:layout>
        <c:manualLayout>
          <c:layoutTarget val="inner"/>
          <c:xMode val="edge"/>
          <c:yMode val="edge"/>
          <c:x val="0.17335863502682958"/>
          <c:y val="0.10928066533168312"/>
          <c:w val="0.80240932716633462"/>
          <c:h val="0.79586726176667266"/>
        </c:manualLayout>
      </c:layout>
      <c:barChart>
        <c:barDir val="col"/>
        <c:grouping val="clustered"/>
        <c:varyColors val="1"/>
        <c:ser>
          <c:idx val="0"/>
          <c:order val="0"/>
          <c:tx>
            <c:strRef>
              <c:f>Sheet1!$B$1</c:f>
              <c:strCache>
                <c:ptCount val="1"/>
                <c:pt idx="0">
                  <c:v>Count</c:v>
                </c:pt>
              </c:strCache>
            </c:strRef>
          </c:tx>
          <c:spPr>
            <a:solidFill>
              <a:srgbClr val="1F77B4"/>
            </a:solidFill>
          </c:spPr>
          <c:invertIfNegative val="1"/>
          <c:cat>
            <c:strRef>
              <c:f>Sheet1!$A$2:$A$11</c:f>
              <c:strCache>
                <c:ptCount val="10"/>
                <c:pt idx="0">
                  <c:v>PostgreSQL</c:v>
                </c:pt>
                <c:pt idx="1">
                  <c:v>SQLite</c:v>
                </c:pt>
                <c:pt idx="2">
                  <c:v>MySQL</c:v>
                </c:pt>
                <c:pt idx="3">
                  <c:v>MongoDB</c:v>
                </c:pt>
                <c:pt idx="4">
                  <c:v>Redis</c:v>
                </c:pt>
                <c:pt idx="5">
                  <c:v>Microsoft SQL Server</c:v>
                </c:pt>
                <c:pt idx="6">
                  <c:v>Elasticsearch</c:v>
                </c:pt>
                <c:pt idx="7">
                  <c:v>MariaDB</c:v>
                </c:pt>
                <c:pt idx="8">
                  <c:v>Dynamodb</c:v>
                </c:pt>
                <c:pt idx="9">
                  <c:v>Supabase</c:v>
                </c:pt>
              </c:strCache>
            </c:strRef>
          </c:cat>
          <c:val>
            <c:numRef>
              <c:f>Sheet1!$B$2:$B$11</c:f>
              <c:numCache>
                <c:formatCode>General</c:formatCode>
                <c:ptCount val="10"/>
                <c:pt idx="0">
                  <c:v>23900</c:v>
                </c:pt>
                <c:pt idx="1">
                  <c:v>13400</c:v>
                </c:pt>
                <c:pt idx="2">
                  <c:v>12200</c:v>
                </c:pt>
                <c:pt idx="3">
                  <c:v>11000</c:v>
                </c:pt>
                <c:pt idx="4">
                  <c:v>10900</c:v>
                </c:pt>
                <c:pt idx="5">
                  <c:v>7850</c:v>
                </c:pt>
                <c:pt idx="6">
                  <c:v>6250</c:v>
                </c:pt>
                <c:pt idx="7">
                  <c:v>5900</c:v>
                </c:pt>
                <c:pt idx="8">
                  <c:v>3450</c:v>
                </c:pt>
                <c:pt idx="9">
                  <c:v>2900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5AE-4512-AE9D-D92D32C2A073}"/>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title>
          <c:tx>
            <c:rich>
              <a:bodyPr/>
              <a:lstStyle/>
              <a:p>
                <a:r>
                  <a:rPr lang="en-US"/>
                  <a:t>Count</a:t>
                </a:r>
              </a:p>
            </c:rich>
          </c:tx>
          <c:layout/>
          <c:overlay val="0"/>
        </c:title>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BDA0E2-FEBD-4B65-8F16-724CF984F377}" type="slidenum">
              <a:rPr lang="en-US" smtClean="0"/>
              <a:t>14</a:t>
            </a:fld>
            <a:endParaRPr lang="en-US"/>
          </a:p>
        </p:txBody>
      </p:sp>
    </p:spTree>
    <p:extLst>
      <p:ext uri="{BB962C8B-B14F-4D97-AF65-F5344CB8AC3E}">
        <p14:creationId xmlns:p14="http://schemas.microsoft.com/office/powerpoint/2010/main" val="220703140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439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3.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17" Type="http://schemas.openxmlformats.org/officeDocument/2006/relationships/image" Target="../media/image7.sv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microsoft.com/office/2007/relationships/hdphoto" Target="../media/hdphoto1.wdp"/><Relationship Id="rId5" Type="http://schemas.openxmlformats.org/officeDocument/2006/relationships/slideLayout" Target="../slideLayouts/slideLayout5.xml"/><Relationship Id="rId15" Type="http://schemas.openxmlformats.org/officeDocument/2006/relationships/image" Target="../media/image5.svg"/><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10">
            <a:alphaModFix amt="5000"/>
            <a:extLst>
              <a:ext uri="{BEBA8EAE-BF5A-486C-A8C5-ECC9F3942E4B}">
                <a14:imgProps xmlns:a14="http://schemas.microsoft.com/office/drawing/2010/main">
                  <a14:imgLayer r:embed="rId11">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2">
              <a:extLst>
                <a:ext uri="{96DAC541-7B7A-43D3-8B79-37D633B846F1}">
                  <asvg:svgBlip xmlns="" xmlns:asvg="http://schemas.microsoft.com/office/drawing/2016/SVG/main" r:embed="rId13"/>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4">
              <a:extLst>
                <a:ext uri="{96DAC541-7B7A-43D3-8B79-37D633B846F1}">
                  <asvg:svgBlip xmlns="" xmlns:asvg="http://schemas.microsoft.com/office/drawing/2016/SVG/main" r:embed="rId15"/>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4">
              <a:extLst>
                <a:ext uri="{96DAC541-7B7A-43D3-8B79-37D633B846F1}">
                  <asvg:svgBlip xmlns="" xmlns:asvg="http://schemas.microsoft.com/office/drawing/2016/SVG/main" r:embed="rId15"/>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4">
              <a:extLst>
                <a:ext uri="{96DAC541-7B7A-43D3-8B79-37D633B846F1}">
                  <asvg:svgBlip xmlns="" xmlns:asvg="http://schemas.microsoft.com/office/drawing/2016/SVG/main" r:embed="rId15"/>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6">
            <a:extLst>
              <a:ext uri="{96DAC541-7B7A-43D3-8B79-37D633B846F1}">
                <asvg:svgBlip xmlns="" xmlns:asvg="http://schemas.microsoft.com/office/drawing/2016/SVG/main" r:embed="rId17"/>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9"/>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 id="2147483674" r:id="rId7"/>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937592" y="1500810"/>
            <a:ext cx="10515600" cy="884581"/>
          </a:xfrm>
        </p:spPr>
        <p:txBody>
          <a:bodyPr anchor="ctr">
            <a:noAutofit/>
          </a:bodyPr>
          <a:lstStyle/>
          <a:p>
            <a:pPr algn="ct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End-to-End </a:t>
            </a:r>
            <a:r>
              <a:rPr lang="en-US" sz="2400" dirty="0">
                <a:latin typeface="Times New Roman" panose="02020603050405020304" pitchFamily="18" charset="0"/>
                <a:cs typeface="Times New Roman" panose="02020603050405020304" pitchFamily="18" charset="0"/>
              </a:rPr>
              <a:t>Exploration from Data Collection to Interactive </a:t>
            </a:r>
            <a:r>
              <a:rPr lang="en-US" sz="2400" dirty="0" err="1">
                <a:latin typeface="Times New Roman" panose="02020603050405020304" pitchFamily="18" charset="0"/>
                <a:cs typeface="Times New Roman" panose="02020603050405020304" pitchFamily="18" charset="0"/>
              </a:rPr>
              <a:t>Dashboarding</a:t>
            </a:r>
            <a:endParaRPr lang="en-US" sz="2400"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half" idx="1"/>
          </p:nvPr>
        </p:nvSpPr>
        <p:spPr>
          <a:xfrm>
            <a:off x="2045805" y="3264736"/>
            <a:ext cx="8100390" cy="2991679"/>
          </a:xfrm>
        </p:spPr>
        <p:txBody>
          <a:bodyPr>
            <a:normAutofit/>
          </a:bodyPr>
          <a:lstStyle/>
          <a:p>
            <a:pPr marL="0" indent="0" algn="ctr">
              <a:buNone/>
            </a:pPr>
            <a:r>
              <a:rPr lang="en-US" sz="2400" b="1" dirty="0" smtClean="0">
                <a:latin typeface="Times New Roman" panose="02020603050405020304" pitchFamily="18" charset="0"/>
                <a:cs typeface="Times New Roman" panose="02020603050405020304" pitchFamily="18" charset="0"/>
              </a:rPr>
              <a:t>Presented by</a:t>
            </a:r>
          </a:p>
          <a:p>
            <a:pPr marL="0" indent="0" algn="ctr">
              <a:buNone/>
            </a:pPr>
            <a:r>
              <a:rPr lang="en-US" sz="2400" dirty="0" smtClean="0">
                <a:latin typeface="Times New Roman" panose="02020603050405020304" pitchFamily="18" charset="0"/>
                <a:cs typeface="Times New Roman" panose="02020603050405020304" pitchFamily="18" charset="0"/>
              </a:rPr>
              <a:t>Ali Lakkis</a:t>
            </a:r>
          </a:p>
          <a:p>
            <a:pPr marL="0" indent="0" algn="ctr">
              <a:buNone/>
            </a:pPr>
            <a:r>
              <a:rPr lang="en-US" sz="2400" b="1" dirty="0" smtClean="0">
                <a:latin typeface="Times New Roman" panose="02020603050405020304" pitchFamily="18" charset="0"/>
                <a:cs typeface="Times New Roman" panose="02020603050405020304" pitchFamily="18" charset="0"/>
              </a:rPr>
              <a:t>Date</a:t>
            </a:r>
          </a:p>
          <a:p>
            <a:pPr marL="0" indent="0" algn="ctr">
              <a:buNone/>
            </a:pPr>
            <a:r>
              <a:rPr lang="en-US" sz="2400" dirty="0" smtClean="0">
                <a:latin typeface="Times New Roman" panose="02020603050405020304" pitchFamily="18" charset="0"/>
                <a:cs typeface="Times New Roman" panose="02020603050405020304" pitchFamily="18" charset="0"/>
              </a:rPr>
              <a:t> 15 August 2026</a:t>
            </a:r>
            <a:endParaRPr lang="en-US" sz="2400" dirty="0">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570D5631-0297-E86E-7069-C969B141FD7D}"/>
              </a:ext>
            </a:extLst>
          </p:cNvPr>
          <p:cNvSpPr txBox="1">
            <a:spLocks/>
          </p:cNvSpPr>
          <p:nvPr/>
        </p:nvSpPr>
        <p:spPr>
          <a:xfrm>
            <a:off x="838200" y="644460"/>
            <a:ext cx="10515600" cy="6116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pPr algn="ctr"/>
            <a:r>
              <a:rPr lang="en-US" sz="2400" dirty="0">
                <a:latin typeface="Times New Roman" panose="02020603050405020304" pitchFamily="18" charset="0"/>
                <a:cs typeface="Times New Roman" panose="02020603050405020304" pitchFamily="18" charset="0"/>
              </a:rPr>
              <a:t>IBM Data Analysis Capstone Project</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097309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782054" y="1662094"/>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smtClean="0">
                <a:latin typeface="Times New Roman" panose="02020603050405020304" pitchFamily="18" charset="0"/>
                <a:cs typeface="Times New Roman" panose="02020603050405020304" pitchFamily="18" charset="0"/>
              </a:rPr>
              <a:t>I.	Executive </a:t>
            </a:r>
            <a:r>
              <a:rPr lang="en-US" sz="2200" dirty="0">
                <a:latin typeface="Times New Roman" panose="02020603050405020304" pitchFamily="18" charset="0"/>
                <a:cs typeface="Times New Roman" panose="02020603050405020304" pitchFamily="18" charset="0"/>
              </a:rPr>
              <a:t>Summary</a:t>
            </a:r>
          </a:p>
          <a:p>
            <a:pPr marL="0" indent="0">
              <a:buNone/>
            </a:pPr>
            <a:r>
              <a:rPr lang="en-US" sz="2200" dirty="0" smtClean="0">
                <a:latin typeface="Times New Roman" panose="02020603050405020304" pitchFamily="18" charset="0"/>
                <a:cs typeface="Times New Roman" panose="02020603050405020304" pitchFamily="18" charset="0"/>
              </a:rPr>
              <a:t>II.	Introduction</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III.	Methodology</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IV.	Results</a:t>
            </a:r>
            <a:endParaRPr lang="en-US" sz="22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Visualization – Charts</a:t>
            </a:r>
          </a:p>
          <a:p>
            <a:pPr lvl="1"/>
            <a:r>
              <a:rPr lang="en-US" sz="1800" dirty="0" smtClean="0">
                <a:latin typeface="Times New Roman" panose="02020603050405020304" pitchFamily="18" charset="0"/>
                <a:cs typeface="Times New Roman" panose="02020603050405020304" pitchFamily="18" charset="0"/>
              </a:rPr>
              <a:t>Dashboards</a:t>
            </a:r>
            <a:endParaRPr lang="en-US" sz="1800" dirty="0">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V.	Discussion</a:t>
            </a:r>
            <a:endParaRPr lang="en-US" sz="2200"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Findings &amp; Implications</a:t>
            </a:r>
          </a:p>
          <a:p>
            <a:pPr marL="0" indent="0">
              <a:buNone/>
            </a:pPr>
            <a:r>
              <a:rPr lang="en-US" sz="2200" dirty="0" smtClean="0">
                <a:latin typeface="Times New Roman" panose="02020603050405020304" pitchFamily="18" charset="0"/>
                <a:cs typeface="Times New Roman" panose="02020603050405020304" pitchFamily="18" charset="0"/>
              </a:rPr>
              <a:t>VI.	Conclusion</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VII.	Appendix</a:t>
            </a:r>
            <a:endParaRPr lang="en-US" sz="2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smtClean="0"/>
              <a:t>I.	EXECUTIVE </a:t>
            </a:r>
            <a:r>
              <a:rPr lang="en-US" dirty="0"/>
              <a:t>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864704" y="1898885"/>
            <a:ext cx="10633127"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b="1" dirty="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rPr>
              <a:t>   Key </a:t>
            </a:r>
            <a:r>
              <a:rPr lang="en-US" sz="1800" b="1" dirty="0">
                <a:latin typeface="Times New Roman" panose="02020603050405020304" pitchFamily="18" charset="0"/>
                <a:cs typeface="Times New Roman" panose="02020603050405020304" pitchFamily="18" charset="0"/>
              </a:rPr>
              <a:t>Findings:</a:t>
            </a: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Current Technology Trends:</a:t>
            </a:r>
            <a:r>
              <a:rPr lang="en-US" sz="1800" dirty="0">
                <a:latin typeface="Times New Roman" panose="02020603050405020304" pitchFamily="18" charset="0"/>
                <a:cs typeface="Times New Roman" panose="02020603050405020304" pitchFamily="18" charset="0"/>
              </a:rPr>
              <a:t> A small group of languages, databases, and platforms dominate current usage, with web frameworks being highly fragmented.</a:t>
            </a:r>
          </a:p>
          <a:p>
            <a:r>
              <a:rPr lang="en-US" sz="1800" b="1" dirty="0">
                <a:latin typeface="Times New Roman" panose="02020603050405020304" pitchFamily="18" charset="0"/>
                <a:cs typeface="Times New Roman" panose="02020603050405020304" pitchFamily="18" charset="0"/>
              </a:rPr>
              <a:t>Future Technology Trends:</a:t>
            </a:r>
            <a:r>
              <a:rPr lang="en-US" sz="1800" dirty="0">
                <a:latin typeface="Times New Roman" panose="02020603050405020304" pitchFamily="18" charset="0"/>
                <a:cs typeface="Times New Roman" panose="02020603050405020304" pitchFamily="18" charset="0"/>
              </a:rPr>
              <a:t> There is a clear shift in interest toward modern, high-growth languages and NoSQL/cloud-based databases and platforms.</a:t>
            </a:r>
          </a:p>
          <a:p>
            <a:r>
              <a:rPr lang="en-US" sz="1800" b="1" dirty="0">
                <a:latin typeface="Times New Roman" panose="02020603050405020304" pitchFamily="18" charset="0"/>
                <a:cs typeface="Times New Roman" panose="02020603050405020304" pitchFamily="18" charset="0"/>
              </a:rPr>
              <a:t>Demographics:</a:t>
            </a:r>
            <a:r>
              <a:rPr lang="en-US" sz="1800" dirty="0">
                <a:latin typeface="Times New Roman" panose="02020603050405020304" pitchFamily="18" charset="0"/>
                <a:cs typeface="Times New Roman" panose="02020603050405020304" pitchFamily="18" charset="0"/>
              </a:rPr>
              <a:t> The developer community is predominantly young, concentrated in a few major countries, with a high level of formal education.</a:t>
            </a:r>
          </a:p>
          <a:p>
            <a:r>
              <a:rPr lang="en-US" sz="1800" b="1" dirty="0">
                <a:latin typeface="Times New Roman" panose="02020603050405020304" pitchFamily="18" charset="0"/>
                <a:cs typeface="Times New Roman" panose="02020603050405020304" pitchFamily="18" charset="0"/>
              </a:rPr>
              <a:t>Correlation Insights:</a:t>
            </a:r>
            <a:r>
              <a:rPr lang="en-US" sz="1800" dirty="0">
                <a:latin typeface="Times New Roman" panose="02020603050405020304" pitchFamily="18" charset="0"/>
                <a:cs typeface="Times New Roman" panose="02020603050405020304" pitchFamily="18" charset="0"/>
              </a:rPr>
              <a:t> Compensation is strongly correlated with experience and specific skill sets, while job satisfaction is linked to remote work opportunities.</a:t>
            </a:r>
          </a:p>
          <a:p>
            <a:r>
              <a:rPr lang="en-US" sz="1800" dirty="0">
                <a:latin typeface="Times New Roman" panose="02020603050405020304" pitchFamily="18" charset="0"/>
                <a:cs typeface="Times New Roman" panose="02020603050405020304" pitchFamily="18" charset="0"/>
              </a:rPr>
              <a:t>Overall, the analysis highlights a fast-evolving tech landscape where continuous upskilling is essential.</a:t>
            </a:r>
          </a:p>
        </p:txBody>
      </p:sp>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smtClean="0"/>
              <a:t>II.	INTRODUCTION</a:t>
            </a:r>
            <a:endParaRPr lang="en-US" dirty="0"/>
          </a:p>
        </p:txBody>
      </p:sp>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874643" y="1825625"/>
            <a:ext cx="1047915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b="1" dirty="0" smtClean="0">
                <a:solidFill>
                  <a:schemeClr val="tx1"/>
                </a:solidFill>
                <a:latin typeface="Times New Roman" panose="02020603050405020304" pitchFamily="18" charset="0"/>
                <a:cs typeface="Times New Roman" panose="02020603050405020304" pitchFamily="18" charset="0"/>
              </a:rPr>
              <a:t>Purpose </a:t>
            </a:r>
            <a:r>
              <a:rPr lang="en-US" sz="1800" b="1" dirty="0">
                <a:solidFill>
                  <a:schemeClr val="tx1"/>
                </a:solidFill>
                <a:latin typeface="Times New Roman" panose="02020603050405020304" pitchFamily="18" charset="0"/>
                <a:cs typeface="Times New Roman" panose="02020603050405020304" pitchFamily="18" charset="0"/>
              </a:rPr>
              <a:t>of the Report:</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This report presents an end-to-end data analysis project. The goal is to collect data from multiple sources (APIs, web scraping, and CSV files), clean and analyze it, and visualize key trends through charts and interactive dashboards in IBM Cognos.</a:t>
            </a:r>
          </a:p>
          <a:p>
            <a:r>
              <a:rPr lang="en-US" sz="1800" b="1" dirty="0">
                <a:solidFill>
                  <a:schemeClr val="tx1"/>
                </a:solidFill>
                <a:latin typeface="Times New Roman" panose="02020603050405020304" pitchFamily="18" charset="0"/>
                <a:cs typeface="Times New Roman" panose="02020603050405020304" pitchFamily="18" charset="0"/>
              </a:rPr>
              <a:t>Target Audience:</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This analysis is designed for tech recruiters, hiring managers, and aspiring developers who want to understand current and future trends in the technology market.</a:t>
            </a:r>
          </a:p>
          <a:p>
            <a:r>
              <a:rPr lang="en-US" sz="1800" b="1" dirty="0">
                <a:solidFill>
                  <a:schemeClr val="tx1"/>
                </a:solidFill>
                <a:latin typeface="Times New Roman" panose="02020603050405020304" pitchFamily="18" charset="0"/>
                <a:cs typeface="Times New Roman" panose="02020603050405020304" pitchFamily="18" charset="0"/>
              </a:rPr>
              <a:t>Value of the Analysis:</a:t>
            </a:r>
            <a:r>
              <a:rPr lang="en-US" sz="1800" dirty="0">
                <a:solidFill>
                  <a:schemeClr val="tx1"/>
                </a:solidFill>
                <a:latin typeface="Times New Roman" panose="02020603050405020304" pitchFamily="18" charset="0"/>
                <a:cs typeface="Times New Roman" panose="02020603050405020304" pitchFamily="18" charset="0"/>
              </a:rP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The analysis provides valuable insights into in-demand skills, technology preferences, and demographics. It helps stakeholders make data-driven decisions about hiring, learning paths, and technology adoption.</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III.	Methodology</a:t>
            </a:r>
            <a:endParaRPr lang="en-US" dirty="0"/>
          </a:p>
        </p:txBody>
      </p:sp>
      <p:sp>
        <p:nvSpPr>
          <p:cNvPr id="3" name="Content Placeholder 2"/>
          <p:cNvSpPr>
            <a:spLocks noGrp="1"/>
          </p:cNvSpPr>
          <p:nvPr>
            <p:ph sz="half" idx="1"/>
          </p:nvPr>
        </p:nvSpPr>
        <p:spPr>
          <a:xfrm>
            <a:off x="838200" y="1600200"/>
            <a:ext cx="10114722" cy="4572000"/>
          </a:xfrm>
        </p:spPr>
        <p:txBody>
          <a:bodyPr>
            <a:noAutofit/>
          </a:bodyPr>
          <a:lstStyle/>
          <a:p>
            <a:pPr>
              <a:buFont typeface="Wingdings" panose="05000000000000000000" pitchFamily="2" charset="2"/>
              <a:buChar char="Ø"/>
            </a:pPr>
            <a:r>
              <a:rPr lang="en-US" sz="1200" b="1" dirty="0">
                <a:latin typeface="Times New Roman" panose="02020603050405020304" pitchFamily="18" charset="0"/>
                <a:cs typeface="Times New Roman" panose="02020603050405020304" pitchFamily="18" charset="0"/>
              </a:rPr>
              <a:t>Data </a:t>
            </a:r>
            <a:r>
              <a:rPr lang="en-US" sz="1200" b="1" dirty="0" smtClean="0">
                <a:latin typeface="Times New Roman" panose="02020603050405020304" pitchFamily="18" charset="0"/>
                <a:cs typeface="Times New Roman" panose="02020603050405020304" pitchFamily="18" charset="0"/>
              </a:rPr>
              <a:t>Sources:</a:t>
            </a:r>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CSV Files, APIs</a:t>
            </a:r>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 Websites</a:t>
            </a:r>
            <a:endParaRPr lang="en-US" sz="1200"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200" b="1" dirty="0" smtClean="0">
                <a:latin typeface="Times New Roman" panose="02020603050405020304" pitchFamily="18" charset="0"/>
                <a:cs typeface="Times New Roman" panose="02020603050405020304" pitchFamily="18" charset="0"/>
              </a:rPr>
              <a:t>Collection Methods : </a:t>
            </a:r>
            <a:r>
              <a:rPr lang="en-US" sz="1200" dirty="0" smtClean="0">
                <a:latin typeface="Times New Roman" panose="02020603050405020304" pitchFamily="18" charset="0"/>
                <a:cs typeface="Times New Roman" panose="02020603050405020304" pitchFamily="18" charset="0"/>
              </a:rPr>
              <a:t>Downloaded CSV file, Used API to get JSON data, Scraped websites with BeautifulSoup.</a:t>
            </a:r>
          </a:p>
          <a:p>
            <a:pPr>
              <a:buFont typeface="Wingdings" panose="05000000000000000000" pitchFamily="2" charset="2"/>
              <a:buChar char="Ø"/>
            </a:pPr>
            <a:r>
              <a:rPr lang="en-US" sz="1200" b="1" dirty="0" smtClean="0">
                <a:latin typeface="Times New Roman" panose="02020603050405020304" pitchFamily="18" charset="0"/>
                <a:cs typeface="Times New Roman" panose="02020603050405020304" pitchFamily="18" charset="0"/>
              </a:rPr>
              <a:t>Data </a:t>
            </a:r>
            <a:r>
              <a:rPr lang="en-US" sz="1200" b="1" dirty="0">
                <a:latin typeface="Times New Roman" panose="02020603050405020304" pitchFamily="18" charset="0"/>
                <a:cs typeface="Times New Roman" panose="02020603050405020304" pitchFamily="18" charset="0"/>
              </a:rPr>
              <a:t>Wrangling </a:t>
            </a:r>
            <a:r>
              <a:rPr lang="en-US" sz="1200" b="1" dirty="0" smtClean="0">
                <a:latin typeface="Times New Roman" panose="02020603050405020304" pitchFamily="18" charset="0"/>
                <a:cs typeface="Times New Roman" panose="02020603050405020304" pitchFamily="18" charset="0"/>
              </a:rPr>
              <a:t>Methods:</a:t>
            </a:r>
            <a:endParaRPr lang="en-US" sz="1200" dirty="0">
              <a:latin typeface="Times New Roman" panose="02020603050405020304" pitchFamily="18" charset="0"/>
              <a:cs typeface="Times New Roman" panose="02020603050405020304" pitchFamily="18" charset="0"/>
            </a:endParaRPr>
          </a:p>
          <a:p>
            <a:pPr marL="457200" lvl="1" indent="0">
              <a:buNone/>
            </a:pPr>
            <a:r>
              <a:rPr lang="en-US" sz="1200" dirty="0" smtClean="0">
                <a:latin typeface="Times New Roman" panose="02020603050405020304" pitchFamily="18" charset="0"/>
                <a:cs typeface="Times New Roman" panose="02020603050405020304" pitchFamily="18" charset="0"/>
              </a:rPr>
              <a:t>-Finding </a:t>
            </a:r>
            <a:r>
              <a:rPr lang="en-US" sz="1200" dirty="0">
                <a:latin typeface="Times New Roman" panose="02020603050405020304" pitchFamily="18" charset="0"/>
                <a:cs typeface="Times New Roman" panose="02020603050405020304" pitchFamily="18" charset="0"/>
              </a:rPr>
              <a:t>duplicates, visualizing them, and removing </a:t>
            </a:r>
            <a:r>
              <a:rPr lang="en-US" sz="1200" dirty="0" smtClean="0">
                <a:latin typeface="Times New Roman" panose="02020603050405020304" pitchFamily="18" charset="0"/>
                <a:cs typeface="Times New Roman" panose="02020603050405020304" pitchFamily="18" charset="0"/>
              </a:rPr>
              <a:t>them.</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-Finding missing values, counting them, imputing </a:t>
            </a:r>
            <a:r>
              <a:rPr lang="en-US" sz="1200" dirty="0" smtClean="0">
                <a:latin typeface="Times New Roman" panose="02020603050405020304" pitchFamily="18" charset="0"/>
                <a:cs typeface="Times New Roman" panose="02020603050405020304" pitchFamily="18" charset="0"/>
              </a:rPr>
              <a:t>them.</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Normlizing</a:t>
            </a:r>
            <a:r>
              <a:rPr lang="en-US" sz="1200" dirty="0">
                <a:latin typeface="Times New Roman" panose="02020603050405020304" pitchFamily="18" charset="0"/>
                <a:cs typeface="Times New Roman" panose="02020603050405020304" pitchFamily="18" charset="0"/>
              </a:rPr>
              <a:t> data and visualizing the </a:t>
            </a:r>
            <a:r>
              <a:rPr lang="en-US" sz="1200" dirty="0" smtClean="0">
                <a:latin typeface="Times New Roman" panose="02020603050405020304" pitchFamily="18" charset="0"/>
                <a:cs typeface="Times New Roman" panose="02020603050405020304" pitchFamily="18" charset="0"/>
              </a:rPr>
              <a:t>effect.</a:t>
            </a:r>
            <a:r>
              <a:rPr lang="en-US" sz="1200" dirty="0">
                <a:latin typeface="Times New Roman" panose="02020603050405020304" pitchFamily="18" charset="0"/>
                <a:cs typeface="Times New Roman" panose="02020603050405020304" pitchFamily="18" charset="0"/>
              </a:rPr>
              <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200" b="1" dirty="0" smtClean="0">
                <a:latin typeface="Times New Roman" panose="02020603050405020304" pitchFamily="18" charset="0"/>
                <a:cs typeface="Times New Roman" panose="02020603050405020304" pitchFamily="18" charset="0"/>
              </a:rPr>
              <a:t>Data </a:t>
            </a:r>
            <a:r>
              <a:rPr lang="en-US" sz="1200" b="1" dirty="0">
                <a:latin typeface="Times New Roman" panose="02020603050405020304" pitchFamily="18" charset="0"/>
                <a:cs typeface="Times New Roman" panose="02020603050405020304" pitchFamily="18" charset="0"/>
              </a:rPr>
              <a:t>Analysis Methods</a:t>
            </a:r>
            <a:r>
              <a:rPr lang="en-US" sz="1200" b="1" dirty="0" smtClean="0">
                <a:latin typeface="Times New Roman" panose="02020603050405020304" pitchFamily="18" charset="0"/>
                <a:cs typeface="Times New Roman" panose="02020603050405020304" pitchFamily="18" charset="0"/>
              </a:rPr>
              <a:t>:</a:t>
            </a:r>
          </a:p>
          <a:p>
            <a:pPr marL="457200" lvl="1" indent="0">
              <a:buNone/>
            </a:pPr>
            <a:r>
              <a:rPr lang="en-US" sz="1200" dirty="0">
                <a:latin typeface="Times New Roman" panose="02020603050405020304" pitchFamily="18" charset="0"/>
                <a:cs typeface="Times New Roman" panose="02020603050405020304" pitchFamily="18" charset="0"/>
              </a:rPr>
              <a:t>-</a:t>
            </a:r>
            <a:r>
              <a:rPr lang="en-US" sz="1200" b="1" dirty="0" smtClean="0">
                <a:latin typeface="Times New Roman" panose="02020603050405020304" pitchFamily="18" charset="0"/>
                <a:cs typeface="Times New Roman" panose="02020603050405020304" pitchFamily="18" charset="0"/>
              </a:rPr>
              <a:t>Exploratory </a:t>
            </a:r>
            <a:r>
              <a:rPr lang="en-US" sz="1200" b="1" dirty="0">
                <a:latin typeface="Times New Roman" panose="02020603050405020304" pitchFamily="18" charset="0"/>
                <a:cs typeface="Times New Roman" panose="02020603050405020304" pitchFamily="18" charset="0"/>
              </a:rPr>
              <a:t>Data Analysis:</a:t>
            </a:r>
            <a:r>
              <a:rPr lang="en-US" sz="1200" dirty="0">
                <a:latin typeface="Times New Roman" panose="02020603050405020304" pitchFamily="18" charset="0"/>
                <a:cs typeface="Times New Roman" panose="02020603050405020304" pitchFamily="18" charset="0"/>
              </a:rPr>
              <a:t> Examined dataset structure, handled missing values, and performed summary statistics.</a:t>
            </a:r>
          </a:p>
          <a:p>
            <a:pPr marL="457200" lvl="1" indent="0">
              <a:buNone/>
            </a:pPr>
            <a:r>
              <a:rPr lang="en-US" sz="1200" dirty="0">
                <a:latin typeface="Times New Roman" panose="02020603050405020304" pitchFamily="18" charset="0"/>
                <a:cs typeface="Times New Roman" panose="02020603050405020304" pitchFamily="18" charset="0"/>
              </a:rPr>
              <a:t>-</a:t>
            </a:r>
            <a:r>
              <a:rPr lang="en-US" sz="1200" b="1" dirty="0" smtClean="0">
                <a:latin typeface="Times New Roman" panose="02020603050405020304" pitchFamily="18" charset="0"/>
                <a:cs typeface="Times New Roman" panose="02020603050405020304" pitchFamily="18" charset="0"/>
              </a:rPr>
              <a:t>Distribution </a:t>
            </a:r>
            <a:r>
              <a:rPr lang="en-US" sz="1200" b="1" dirty="0">
                <a:latin typeface="Times New Roman" panose="02020603050405020304" pitchFamily="18" charset="0"/>
                <a:cs typeface="Times New Roman" panose="02020603050405020304" pitchFamily="18" charset="0"/>
              </a:rPr>
              <a:t>Analysis:</a:t>
            </a:r>
            <a:r>
              <a:rPr lang="en-US" sz="1200" dirty="0">
                <a:latin typeface="Times New Roman" panose="02020603050405020304" pitchFamily="18" charset="0"/>
                <a:cs typeface="Times New Roman" panose="02020603050405020304" pitchFamily="18" charset="0"/>
              </a:rPr>
              <a:t> Analyzed data distribution using statistical summaries and visual </a:t>
            </a:r>
            <a:r>
              <a:rPr lang="en-US" sz="1200" dirty="0" smtClean="0">
                <a:latin typeface="Times New Roman" panose="02020603050405020304" pitchFamily="18" charset="0"/>
                <a:cs typeface="Times New Roman" panose="02020603050405020304" pitchFamily="18" charset="0"/>
              </a:rPr>
              <a:t>methods.(data </a:t>
            </a:r>
            <a:r>
              <a:rPr lang="en-US" sz="1200" dirty="0">
                <a:latin typeface="Times New Roman" panose="02020603050405020304" pitchFamily="18" charset="0"/>
                <a:cs typeface="Times New Roman" panose="02020603050405020304" pitchFamily="18" charset="0"/>
              </a:rPr>
              <a:t>centered or </a:t>
            </a:r>
            <a:r>
              <a:rPr lang="en-US" sz="1200" dirty="0" smtClean="0">
                <a:latin typeface="Times New Roman" panose="02020603050405020304" pitchFamily="18" charset="0"/>
                <a:cs typeface="Times New Roman" panose="02020603050405020304" pitchFamily="18" charset="0"/>
              </a:rPr>
              <a:t>skewed? spread </a:t>
            </a:r>
            <a:r>
              <a:rPr lang="en-US" sz="1200" dirty="0">
                <a:latin typeface="Times New Roman" panose="02020603050405020304" pitchFamily="18" charset="0"/>
                <a:cs typeface="Times New Roman" panose="02020603050405020304" pitchFamily="18" charset="0"/>
              </a:rPr>
              <a:t>wide or narrow</a:t>
            </a:r>
            <a:r>
              <a:rPr lang="en-US" sz="1200" dirty="0" smtClean="0">
                <a:latin typeface="Times New Roman" panose="02020603050405020304" pitchFamily="18" charset="0"/>
                <a:cs typeface="Times New Roman" panose="02020603050405020304" pitchFamily="18" charset="0"/>
              </a:rPr>
              <a:t>?)</a:t>
            </a:r>
          </a:p>
          <a:p>
            <a:pPr marL="457200" lvl="1" indent="0">
              <a:buNone/>
            </a:pPr>
            <a:r>
              <a:rPr lang="en-US" sz="1200" dirty="0">
                <a:latin typeface="Times New Roman" panose="02020603050405020304" pitchFamily="18" charset="0"/>
                <a:cs typeface="Times New Roman" panose="02020603050405020304" pitchFamily="18" charset="0"/>
              </a:rPr>
              <a:t>-</a:t>
            </a:r>
            <a:r>
              <a:rPr lang="en-US" sz="1200" b="1" dirty="0" smtClean="0">
                <a:latin typeface="Times New Roman" panose="02020603050405020304" pitchFamily="18" charset="0"/>
                <a:cs typeface="Times New Roman" panose="02020603050405020304" pitchFamily="18" charset="0"/>
              </a:rPr>
              <a:t>Outlier Detection</a:t>
            </a:r>
            <a:r>
              <a:rPr lang="en-US" sz="1200" b="1" dirty="0">
                <a:latin typeface="Times New Roman" panose="02020603050405020304" pitchFamily="18" charset="0"/>
                <a:cs typeface="Times New Roman" panose="02020603050405020304" pitchFamily="18" charset="0"/>
              </a:rPr>
              <a:t>:</a:t>
            </a:r>
            <a:r>
              <a:rPr lang="en-US" sz="1200" dirty="0">
                <a:latin typeface="Times New Roman" panose="02020603050405020304" pitchFamily="18" charset="0"/>
                <a:cs typeface="Times New Roman" panose="02020603050405020304" pitchFamily="18" charset="0"/>
              </a:rPr>
              <a:t> Identified and removed outliers using statistical techniques.</a:t>
            </a:r>
          </a:p>
          <a:p>
            <a:pPr marL="457200" lvl="1" indent="0">
              <a:buNone/>
            </a:pPr>
            <a:r>
              <a:rPr lang="en-US" sz="1200" dirty="0">
                <a:latin typeface="Times New Roman" panose="02020603050405020304" pitchFamily="18" charset="0"/>
                <a:cs typeface="Times New Roman" panose="02020603050405020304" pitchFamily="18" charset="0"/>
              </a:rPr>
              <a:t>-</a:t>
            </a:r>
            <a:r>
              <a:rPr lang="en-US" sz="1200" b="1" dirty="0" smtClean="0">
                <a:latin typeface="Times New Roman" panose="02020603050405020304" pitchFamily="18" charset="0"/>
                <a:cs typeface="Times New Roman" panose="02020603050405020304" pitchFamily="18" charset="0"/>
              </a:rPr>
              <a:t> </a:t>
            </a:r>
            <a:r>
              <a:rPr lang="en-US" sz="1200" b="1" dirty="0">
                <a:latin typeface="Times New Roman" panose="02020603050405020304" pitchFamily="18" charset="0"/>
                <a:cs typeface="Times New Roman" panose="02020603050405020304" pitchFamily="18" charset="0"/>
              </a:rPr>
              <a:t>Correlation Analysis:</a:t>
            </a:r>
            <a:r>
              <a:rPr lang="en-US" sz="1200" dirty="0">
                <a:latin typeface="Times New Roman" panose="02020603050405020304" pitchFamily="18" charset="0"/>
                <a:cs typeface="Times New Roman" panose="02020603050405020304" pitchFamily="18" charset="0"/>
              </a:rPr>
              <a:t> Explored relationships and correlations between key variables.</a:t>
            </a:r>
          </a:p>
          <a:p>
            <a:pPr marL="457200" lvl="1" indent="0">
              <a:buNone/>
            </a:pPr>
            <a:endParaRPr lang="en-US" sz="1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200" b="1" dirty="0" smtClean="0">
                <a:latin typeface="Times New Roman" panose="02020603050405020304" pitchFamily="18" charset="0"/>
                <a:cs typeface="Times New Roman" panose="02020603050405020304" pitchFamily="18" charset="0"/>
              </a:rPr>
              <a:t>Data </a:t>
            </a:r>
            <a:r>
              <a:rPr lang="en-US" sz="1200" b="1" dirty="0">
                <a:latin typeface="Times New Roman" panose="02020603050405020304" pitchFamily="18" charset="0"/>
                <a:cs typeface="Times New Roman" panose="02020603050405020304" pitchFamily="18" charset="0"/>
              </a:rPr>
              <a:t>Visualization </a:t>
            </a:r>
            <a:r>
              <a:rPr lang="en-US" sz="1200" b="1" dirty="0" smtClean="0">
                <a:latin typeface="Times New Roman" panose="02020603050405020304" pitchFamily="18" charset="0"/>
                <a:cs typeface="Times New Roman" panose="02020603050405020304" pitchFamily="18" charset="0"/>
              </a:rPr>
              <a:t>Method:</a:t>
            </a:r>
          </a:p>
          <a:p>
            <a:pPr marL="457200" lvl="1" indent="0">
              <a:buNone/>
            </a:pPr>
            <a:r>
              <a:rPr lang="en-US" sz="1200" dirty="0">
                <a:latin typeface="Times New Roman" panose="02020603050405020304" pitchFamily="18" charset="0"/>
                <a:cs typeface="Times New Roman" panose="02020603050405020304" pitchFamily="18" charset="0"/>
              </a:rPr>
              <a:t>-</a:t>
            </a:r>
            <a:r>
              <a:rPr lang="en-US" sz="1200" dirty="0" smtClean="0">
                <a:latin typeface="Times New Roman" panose="02020603050405020304" pitchFamily="18" charset="0"/>
                <a:cs typeface="Times New Roman" panose="02020603050405020304" pitchFamily="18" charset="0"/>
              </a:rPr>
              <a:t>Applied </a:t>
            </a:r>
            <a:r>
              <a:rPr lang="en-US" sz="1200" dirty="0">
                <a:latin typeface="Times New Roman" panose="02020603050405020304" pitchFamily="18" charset="0"/>
                <a:cs typeface="Times New Roman" panose="02020603050405020304" pitchFamily="18" charset="0"/>
              </a:rPr>
              <a:t>histograms, box plots, scatter plots, bubble plots, pie charts, stacked charts, line charts, and bar charts to represent insights</a:t>
            </a:r>
            <a:r>
              <a:rPr lang="en-US" sz="12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1200" b="1" dirty="0" err="1" smtClean="0">
                <a:latin typeface="Times New Roman" panose="02020603050405020304" pitchFamily="18" charset="0"/>
                <a:cs typeface="Times New Roman" panose="02020603050405020304" pitchFamily="18" charset="0"/>
              </a:rPr>
              <a:t>Dashboarding</a:t>
            </a:r>
            <a:r>
              <a:rPr lang="en-US" sz="1200" b="1" dirty="0" smtClean="0">
                <a:latin typeface="Times New Roman" panose="02020603050405020304" pitchFamily="18" charset="0"/>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a:p>
            <a:pPr marL="457200" lvl="1" indent="0">
              <a:buNone/>
            </a:pPr>
            <a:r>
              <a:rPr lang="en-US" sz="1200" dirty="0">
                <a:latin typeface="Times New Roman" panose="02020603050405020304" pitchFamily="18" charset="0"/>
                <a:cs typeface="Times New Roman" panose="02020603050405020304" pitchFamily="18" charset="0"/>
              </a:rPr>
              <a:t>-</a:t>
            </a:r>
            <a:r>
              <a:rPr lang="en-US" sz="1200" dirty="0" smtClean="0">
                <a:latin typeface="Times New Roman" panose="02020603050405020304" pitchFamily="18" charset="0"/>
                <a:cs typeface="Times New Roman" panose="02020603050405020304" pitchFamily="18" charset="0"/>
              </a:rPr>
              <a:t>Create </a:t>
            </a:r>
            <a:r>
              <a:rPr lang="en-US" sz="1200" dirty="0">
                <a:latin typeface="Times New Roman" panose="02020603050405020304" pitchFamily="18" charset="0"/>
                <a:cs typeface="Times New Roman" panose="02020603050405020304" pitchFamily="18" charset="0"/>
              </a:rPr>
              <a:t>dashboards in IBM Cognos for Current Usage, Future Trends, and </a:t>
            </a:r>
            <a:r>
              <a:rPr lang="en-US" sz="1200" dirty="0" smtClean="0">
                <a:latin typeface="Times New Roman" panose="02020603050405020304" pitchFamily="18" charset="0"/>
                <a:cs typeface="Times New Roman" panose="02020603050405020304" pitchFamily="18" charset="0"/>
              </a:rPr>
              <a:t>Demographics Bar </a:t>
            </a:r>
            <a:r>
              <a:rPr lang="en-US" sz="1200" dirty="0">
                <a:latin typeface="Times New Roman" panose="02020603050405020304" pitchFamily="18" charset="0"/>
                <a:cs typeface="Times New Roman" panose="02020603050405020304" pitchFamily="18" charset="0"/>
              </a:rPr>
              <a:t>chart, Column chart, Word cloud, Hierarchy bubble chart, Tree map chart, Pie chart, Map chart, Line chart, and Stacked bar chart.</a:t>
            </a:r>
          </a:p>
          <a:p>
            <a:endParaRPr lang="en-US" sz="1200" dirty="0">
              <a:latin typeface="Times New Roman" panose="02020603050405020304" pitchFamily="18" charset="0"/>
              <a:cs typeface="Times New Roman" panose="02020603050405020304" pitchFamily="18" charset="0"/>
            </a:endParaRPr>
          </a:p>
          <a:p>
            <a:r>
              <a:rPr lang="en-US" sz="1200" b="1" dirty="0" smtClean="0">
                <a:latin typeface="Times New Roman" panose="02020603050405020304" pitchFamily="18" charset="0"/>
                <a:cs typeface="Times New Roman" panose="02020603050405020304" pitchFamily="18" charset="0"/>
              </a:rPr>
              <a:t>Reporting:</a:t>
            </a:r>
            <a:endParaRPr lang="en-US" sz="1200" dirty="0">
              <a:latin typeface="Times New Roman" panose="02020603050405020304" pitchFamily="18" charset="0"/>
              <a:cs typeface="Times New Roman" panose="02020603050405020304" pitchFamily="18" charset="0"/>
            </a:endParaRPr>
          </a:p>
          <a:p>
            <a:pPr marL="457200" lvl="1" indent="0">
              <a:buNone/>
            </a:pPr>
            <a:r>
              <a:rPr lang="en-US" sz="1200" dirty="0">
                <a:latin typeface="Times New Roman" panose="02020603050405020304" pitchFamily="18" charset="0"/>
                <a:cs typeface="Times New Roman" panose="02020603050405020304" pitchFamily="18" charset="0"/>
              </a:rPr>
              <a:t>-</a:t>
            </a:r>
            <a:r>
              <a:rPr lang="en-US" sz="1200" dirty="0" smtClean="0">
                <a:latin typeface="Times New Roman" panose="02020603050405020304" pitchFamily="18" charset="0"/>
                <a:cs typeface="Times New Roman" panose="02020603050405020304" pitchFamily="18" charset="0"/>
              </a:rPr>
              <a:t>Present </a:t>
            </a:r>
            <a:r>
              <a:rPr lang="en-US" sz="1200" dirty="0">
                <a:latin typeface="Times New Roman" panose="02020603050405020304" pitchFamily="18" charset="0"/>
                <a:cs typeface="Times New Roman" panose="02020603050405020304" pitchFamily="18" charset="0"/>
              </a:rPr>
              <a:t>findings and recommendations in final report.</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5161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700"/>
          </a:xfrm>
          <a:prstGeom prst="rect">
            <a:avLst/>
          </a:prstGeom>
          <a:solidFill>
            <a:srgbClr val="646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591556" y="2197679"/>
            <a:ext cx="1005840" cy="292608"/>
          </a:xfrm>
          <a:prstGeom prst="round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wrap="square" rtlCol="0" anchor="t"/>
          <a:lstStyle/>
          <a:p>
            <a:pPr algn="ctr">
              <a:defRPr sz="1000" b="1">
                <a:solidFill>
                  <a:srgbClr val="505050"/>
                </a:solidFill>
              </a:defRPr>
            </a:pPr>
            <a:r>
              <a:rPr dirty="0"/>
              <a:t>SECTION</a:t>
            </a:r>
          </a:p>
        </p:txBody>
      </p:sp>
      <p:sp>
        <p:nvSpPr>
          <p:cNvPr id="5" name="TextBox 4"/>
          <p:cNvSpPr txBox="1"/>
          <p:nvPr/>
        </p:nvSpPr>
        <p:spPr>
          <a:xfrm>
            <a:off x="0" y="2631003"/>
            <a:ext cx="11274552" cy="769441"/>
          </a:xfrm>
          <a:prstGeom prst="rect">
            <a:avLst/>
          </a:prstGeom>
          <a:noFill/>
        </p:spPr>
        <p:txBody>
          <a:bodyPr wrap="square">
            <a:spAutoFit/>
          </a:bodyPr>
          <a:lstStyle/>
          <a:p>
            <a:pPr algn="ctr">
              <a:defRPr sz="4400" b="1">
                <a:solidFill>
                  <a:srgbClr val="000000"/>
                </a:solidFill>
              </a:defRPr>
            </a:pPr>
            <a:r>
              <a:rPr lang="en-US" dirty="0" smtClean="0">
                <a:latin typeface="Times New Roman" panose="02020603050405020304" pitchFamily="18" charset="0"/>
                <a:cs typeface="Times New Roman" panose="02020603050405020304" pitchFamily="18" charset="0"/>
              </a:rPr>
              <a:t>IV.	</a:t>
            </a:r>
            <a:r>
              <a:rPr dirty="0" smtClean="0">
                <a:latin typeface="Times New Roman" panose="02020603050405020304" pitchFamily="18" charset="0"/>
                <a:cs typeface="Times New Roman" panose="02020603050405020304" pitchFamily="18" charset="0"/>
              </a:rPr>
              <a:t>RESULTS</a:t>
            </a:r>
            <a:endParaRPr dirty="0">
              <a:latin typeface="Times New Roman" panose="02020603050405020304" pitchFamily="18" charset="0"/>
              <a:cs typeface="Times New Roman" panose="02020603050405020304" pitchFamily="18" charset="0"/>
            </a:endParaRPr>
          </a:p>
        </p:txBody>
      </p:sp>
      <p:sp>
        <p:nvSpPr>
          <p:cNvPr id="6" name="TextBox 5"/>
          <p:cNvSpPr txBox="1"/>
          <p:nvPr/>
        </p:nvSpPr>
        <p:spPr>
          <a:xfrm>
            <a:off x="2285999" y="3566160"/>
            <a:ext cx="8239539" cy="307777"/>
          </a:xfrm>
          <a:prstGeom prst="rect">
            <a:avLst/>
          </a:prstGeom>
          <a:noFill/>
        </p:spPr>
        <p:txBody>
          <a:bodyPr wrap="square">
            <a:spAutoFit/>
          </a:bodyPr>
          <a:lstStyle/>
          <a:p>
            <a:pPr algn="ctr">
              <a:spcAft>
                <a:spcPts val="600"/>
              </a:spcAft>
              <a:defRPr sz="1400">
                <a:solidFill>
                  <a:srgbClr val="4B5563"/>
                </a:solidFill>
              </a:defRPr>
            </a:pPr>
            <a:r>
              <a:rPr dirty="0">
                <a:latin typeface="Times New Roman" panose="02020603050405020304" pitchFamily="18" charset="0"/>
                <a:cs typeface="Times New Roman" panose="02020603050405020304" pitchFamily="18" charset="0"/>
              </a:rPr>
              <a:t>Presenting analysis from job postings, salary scraping, programming languages, and databases. Next </a:t>
            </a:r>
            <a:r>
              <a:rPr dirty="0" smtClean="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slides.</a:t>
            </a:r>
          </a:p>
        </p:txBody>
      </p:sp>
      <p:sp>
        <p:nvSpPr>
          <p:cNvPr id="7" name="Rounded Rectangle 6"/>
          <p:cNvSpPr/>
          <p:nvPr/>
        </p:nvSpPr>
        <p:spPr>
          <a:xfrm>
            <a:off x="5486400" y="4480560"/>
            <a:ext cx="411480" cy="50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989320" y="4480560"/>
            <a:ext cx="411480" cy="5080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92240" y="4480560"/>
            <a:ext cx="411480" cy="50800"/>
          </a:xfrm>
          <a:prstGeom prst="round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0" y="6492240"/>
            <a:ext cx="12191695" cy="9525"/>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6565392"/>
            <a:ext cx="2743200" cy="228600"/>
          </a:xfrm>
          <a:prstGeom prst="rect">
            <a:avLst/>
          </a:prstGeom>
          <a:noFill/>
        </p:spPr>
        <p:txBody>
          <a:bodyPr wrap="none">
            <a:spAutoFit/>
          </a:bodyPr>
          <a:lstStyle/>
          <a:p>
            <a:pPr>
              <a:defRPr sz="800" b="0">
                <a:solidFill>
                  <a:srgbClr val="787878"/>
                </a:solidFill>
              </a:defRPr>
            </a:pPr>
            <a:r>
              <a:t>SKILLS NETWORK</a:t>
            </a:r>
          </a:p>
        </p:txBody>
      </p:sp>
      <p:sp>
        <p:nvSpPr>
          <p:cNvPr id="12" name="TextBox 11"/>
          <p:cNvSpPr txBox="1"/>
          <p:nvPr/>
        </p:nvSpPr>
        <p:spPr>
          <a:xfrm>
            <a:off x="7315200" y="6565392"/>
            <a:ext cx="4572000" cy="228600"/>
          </a:xfrm>
          <a:prstGeom prst="rect">
            <a:avLst/>
          </a:prstGeom>
          <a:noFill/>
        </p:spPr>
        <p:txBody>
          <a:bodyPr wrap="square">
            <a:spAutoFit/>
          </a:bodyPr>
          <a:lstStyle/>
          <a:p>
            <a:pPr algn="r">
              <a:defRPr sz="800">
                <a:solidFill>
                  <a:srgbClr val="787878"/>
                </a:solidFill>
              </a:defRPr>
            </a:pPr>
            <a:r>
              <a:rPr sz="800">
                <a:solidFill>
                  <a:srgbClr val="787878"/>
                </a:solidFill>
              </a:rPr>
              <a:t>IBM Data Analyst Capstone • Ali Lakkis • 07/28/2026    </a:t>
            </a:r>
            <a:r>
              <a:rPr sz="900" b="1">
                <a:solidFill>
                  <a:srgbClr val="000000"/>
                </a:solidFill>
              </a:rPr>
              <a:t>IBM</a:t>
            </a:r>
          </a:p>
        </p:txBody>
      </p:sp>
    </p:spTree>
    <p:extLst>
      <p:ext uri="{BB962C8B-B14F-4D97-AF65-F5344CB8AC3E}">
        <p14:creationId xmlns:p14="http://schemas.microsoft.com/office/powerpoint/2010/main" val="25293691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a:t>
            </a:r>
            <a:r>
              <a:rPr lang="en-US" dirty="0" smtClean="0"/>
              <a:t>A.	JOB </a:t>
            </a:r>
            <a:r>
              <a:rPr lang="en-US" dirty="0"/>
              <a:t>POSTINGS</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6060" y="1608146"/>
            <a:ext cx="5760731" cy="4297689"/>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758536" y="383051"/>
            <a:ext cx="10174507" cy="1325563"/>
          </a:xfrm>
        </p:spPr>
        <p:txBody>
          <a:bodyPr anchor="ctr">
            <a:normAutofit/>
          </a:bodyPr>
          <a:lstStyle/>
          <a:p>
            <a:r>
              <a:rPr lang="en-US" dirty="0" smtClean="0"/>
              <a:t>B.	POPULAR </a:t>
            </a:r>
            <a:r>
              <a:rPr lang="en-US" dirty="0"/>
              <a:t>LANGUAGES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3460" y="1639040"/>
            <a:ext cx="5468123" cy="4544577"/>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lstStyle/>
          <a:p>
            <a:r>
              <a:rPr lang="en-US" dirty="0" smtClean="0"/>
              <a:t>C.	PROGRAMMING </a:t>
            </a:r>
            <a:r>
              <a:rPr lang="en-US" dirty="0"/>
              <a:t>LANGUAGE TRENDS</a:t>
            </a:r>
          </a:p>
        </p:txBody>
      </p:sp>
      <p:sp>
        <p:nvSpPr>
          <p:cNvPr id="3" name="TextBox 2">
            <a:extLst>
              <a:ext uri="{FF2B5EF4-FFF2-40B4-BE49-F238E27FC236}">
                <a16:creationId xmlns:a16="http://schemas.microsoft.com/office/drawing/2014/main" id="{551C5862-9AB9-9679-23B5-A950E973AFB5}"/>
              </a:ext>
            </a:extLst>
          </p:cNvPr>
          <p:cNvSpPr txBox="1"/>
          <p:nvPr/>
        </p:nvSpPr>
        <p:spPr>
          <a:xfrm>
            <a:off x="924305" y="1475244"/>
            <a:ext cx="10429495" cy="338554"/>
          </a:xfrm>
          <a:prstGeom prst="rect">
            <a:avLst/>
          </a:prstGeom>
          <a:noFill/>
        </p:spPr>
        <p:txBody>
          <a:bodyPr wrap="square" rtlCol="0">
            <a:spAutoFit/>
          </a:bodyPr>
          <a:lstStyle/>
          <a:p>
            <a:pPr>
              <a:defRPr sz="1100" i="1">
                <a:solidFill>
                  <a:srgbClr val="666666"/>
                </a:solidFill>
                <a:latin typeface="Calibri"/>
              </a:defRPr>
            </a:pPr>
            <a:r>
              <a:rPr lang="en-US" sz="1600" dirty="0"/>
              <a:t>Insight: JavaScript dominates current usage, Python leads desire for next year with growing interest in Rust &amp; Go.</a:t>
            </a:r>
          </a:p>
        </p:txBody>
      </p:sp>
      <p:graphicFrame>
        <p:nvGraphicFramePr>
          <p:cNvPr id="13" name="Chart 12"/>
          <p:cNvGraphicFramePr>
            <a:graphicFrameLocks noGrp="1"/>
          </p:cNvGraphicFramePr>
          <p:nvPr>
            <p:extLst>
              <p:ext uri="{D42A27DB-BD31-4B8C-83A1-F6EECF244321}">
                <p14:modId xmlns:p14="http://schemas.microsoft.com/office/powerpoint/2010/main" val="708449730"/>
              </p:ext>
            </p:extLst>
          </p:nvPr>
        </p:nvGraphicFramePr>
        <p:xfrm>
          <a:off x="458787" y="2063170"/>
          <a:ext cx="5355603" cy="43376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p:cNvGraphicFramePr>
            <a:graphicFrameLocks noGrp="1"/>
          </p:cNvGraphicFramePr>
          <p:nvPr>
            <p:extLst>
              <p:ext uri="{D42A27DB-BD31-4B8C-83A1-F6EECF244321}">
                <p14:modId xmlns:p14="http://schemas.microsoft.com/office/powerpoint/2010/main" val="19166694"/>
              </p:ext>
            </p:extLst>
          </p:nvPr>
        </p:nvGraphicFramePr>
        <p:xfrm>
          <a:off x="5933261" y="2063171"/>
          <a:ext cx="5042852" cy="479483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6844674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8" name="Content Placeholder 7"/>
          <p:cNvSpPr>
            <a:spLocks noGrp="1"/>
          </p:cNvSpPr>
          <p:nvPr>
            <p:ph sz="half" idx="1"/>
          </p:nvPr>
        </p:nvSpPr>
        <p:spPr>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indent="0">
              <a:buNone/>
              <a:defRPr sz="1600" b="1">
                <a:solidFill>
                  <a:srgbClr val="1F77B4"/>
                </a:solidFill>
                <a:latin typeface="Calibri"/>
              </a:defRPr>
            </a:pPr>
            <a:r>
              <a:rPr lang="en-US" sz="1600" dirty="0" smtClean="0">
                <a:latin typeface="Times New Roman" panose="02020603050405020304" pitchFamily="18" charset="0"/>
                <a:cs typeface="Times New Roman" panose="02020603050405020304" pitchFamily="18" charset="0"/>
              </a:rPr>
              <a:t>    </a:t>
            </a:r>
            <a:r>
              <a:rPr sz="1600" dirty="0" smtClean="0">
                <a:latin typeface="Times New Roman" panose="02020603050405020304" pitchFamily="18" charset="0"/>
                <a:cs typeface="Times New Roman" panose="02020603050405020304" pitchFamily="18" charset="0"/>
              </a:rPr>
              <a:t>Key </a:t>
            </a:r>
            <a:r>
              <a:rPr sz="1600" dirty="0">
                <a:latin typeface="Times New Roman" panose="02020603050405020304" pitchFamily="18" charset="0"/>
                <a:cs typeface="Times New Roman" panose="02020603050405020304" pitchFamily="18" charset="0"/>
              </a:rPr>
              <a:t>Findings</a:t>
            </a:r>
          </a:p>
          <a:p>
            <a:endParaRPr dirty="0">
              <a:latin typeface="Times New Roman" panose="02020603050405020304" pitchFamily="18" charset="0"/>
              <a:cs typeface="Times New Roman" panose="02020603050405020304" pitchFamily="18" charset="0"/>
            </a:endParaRPr>
          </a:p>
          <a:p>
            <a:pPr>
              <a:spcBef>
                <a:spcPts val="1000"/>
              </a:spcBef>
              <a:defRPr sz="1200">
                <a:solidFill>
                  <a:srgbClr val="222222"/>
                </a:solidFill>
                <a:latin typeface="Calibri"/>
              </a:defRPr>
            </a:pPr>
            <a:r>
              <a:rPr sz="1200" dirty="0" smtClean="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JavaScript is #1 today (37.6k) but Python becomes #1 for next year (25k) - Python overtakes JS in desire.</a:t>
            </a:r>
          </a:p>
          <a:p>
            <a:pPr>
              <a:spcBef>
                <a:spcPts val="1000"/>
              </a:spcBef>
              <a:defRPr sz="1200">
                <a:solidFill>
                  <a:srgbClr val="222222"/>
                </a:solidFill>
                <a:latin typeface="Calibri"/>
              </a:defRPr>
            </a:pPr>
            <a:r>
              <a:rPr sz="1200" dirty="0" smtClean="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Web core remains strong: JavaScript, HTML/CSS, and TypeScript stay in Top 5 for both years.</a:t>
            </a:r>
          </a:p>
          <a:p>
            <a:pPr>
              <a:spcBef>
                <a:spcPts val="1000"/>
              </a:spcBef>
              <a:defRPr sz="1200">
                <a:solidFill>
                  <a:srgbClr val="222222"/>
                </a:solidFill>
                <a:latin typeface="Calibri"/>
              </a:defRPr>
            </a:pPr>
            <a:r>
              <a:rPr sz="1200" dirty="0" smtClean="0">
                <a:latin typeface="Times New Roman" panose="02020603050405020304" pitchFamily="18" charset="0"/>
                <a:cs typeface="Times New Roman" panose="02020603050405020304" pitchFamily="18" charset="0"/>
              </a:rPr>
              <a:t>TypeScript </a:t>
            </a:r>
            <a:r>
              <a:rPr sz="1200" dirty="0">
                <a:latin typeface="Times New Roman" panose="02020603050405020304" pitchFamily="18" charset="0"/>
                <a:cs typeface="Times New Roman" panose="02020603050405020304" pitchFamily="18" charset="0"/>
              </a:rPr>
              <a:t>steady growth (23k -&gt; 20k) shows shift to typed JavaScript in large projects.</a:t>
            </a:r>
          </a:p>
          <a:p>
            <a:pPr>
              <a:spcBef>
                <a:spcPts val="1000"/>
              </a:spcBef>
              <a:defRPr sz="1200">
                <a:solidFill>
                  <a:srgbClr val="222222"/>
                </a:solidFill>
                <a:latin typeface="Calibri"/>
              </a:defRPr>
            </a:pPr>
            <a:r>
              <a:rPr sz="1200" dirty="0" smtClean="0">
                <a:latin typeface="Times New Roman" panose="02020603050405020304" pitchFamily="18" charset="0"/>
                <a:cs typeface="Times New Roman" panose="02020603050405020304" pitchFamily="18" charset="0"/>
              </a:rPr>
              <a:t>Major </a:t>
            </a:r>
            <a:r>
              <a:rPr sz="1200" dirty="0">
                <a:latin typeface="Times New Roman" panose="02020603050405020304" pitchFamily="18" charset="0"/>
                <a:cs typeface="Times New Roman" panose="02020603050405020304" pitchFamily="18" charset="0"/>
              </a:rPr>
              <a:t>Shift: Rust (#6 next year) and Go (#7 next year) enter Top 10, replacing Java and C. Rust +73% interest.</a:t>
            </a:r>
          </a:p>
          <a:p>
            <a:pPr>
              <a:spcBef>
                <a:spcPts val="1000"/>
              </a:spcBef>
              <a:defRPr sz="1200">
                <a:solidFill>
                  <a:srgbClr val="222222"/>
                </a:solidFill>
                <a:latin typeface="Calibri"/>
              </a:defRPr>
            </a:pPr>
            <a:r>
              <a:rPr sz="1200" dirty="0" smtClean="0">
                <a:latin typeface="Times New Roman" panose="02020603050405020304" pitchFamily="18" charset="0"/>
                <a:cs typeface="Times New Roman" panose="02020603050405020304" pitchFamily="18" charset="0"/>
              </a:rPr>
              <a:t>Python </a:t>
            </a:r>
            <a:r>
              <a:rPr sz="1200" dirty="0">
                <a:latin typeface="Times New Roman" panose="02020603050405020304" pitchFamily="18" charset="0"/>
                <a:cs typeface="Times New Roman" panose="02020603050405020304" pitchFamily="18" charset="0"/>
              </a:rPr>
              <a:t>+ SQL dominance signals Data/AI boom - both stay in Top 3 for next year.</a:t>
            </a:r>
          </a:p>
          <a:p>
            <a:pPr>
              <a:spcBef>
                <a:spcPts val="1000"/>
              </a:spcBef>
              <a:defRPr sz="1200">
                <a:solidFill>
                  <a:srgbClr val="222222"/>
                </a:solidFill>
                <a:latin typeface="Calibri"/>
              </a:defRPr>
            </a:pPr>
            <a:r>
              <a:rPr sz="1200" dirty="0" smtClean="0">
                <a:latin typeface="Times New Roman" panose="02020603050405020304" pitchFamily="18" charset="0"/>
                <a:cs typeface="Times New Roman" panose="02020603050405020304" pitchFamily="18" charset="0"/>
              </a:rPr>
              <a:t>Java </a:t>
            </a:r>
            <a:r>
              <a:rPr sz="1200" dirty="0">
                <a:latin typeface="Times New Roman" panose="02020603050405020304" pitchFamily="18" charset="0"/>
                <a:cs typeface="Times New Roman" panose="02020603050405020304" pitchFamily="18" charset="0"/>
              </a:rPr>
              <a:t>drops out of Top 10 next year (18.2k -&gt; out) - decline in enterprise preference among respondents.</a:t>
            </a:r>
          </a:p>
        </p:txBody>
      </p:sp>
      <p:sp>
        <p:nvSpPr>
          <p:cNvPr id="9" name="Content Placeholder 8"/>
          <p:cNvSpPr>
            <a:spLocks noGrp="1"/>
          </p:cNvSpPr>
          <p:nvPr>
            <p:ph sz="half" idx="2"/>
          </p:nvPr>
        </p:nvSpPr>
        <p:spPr>
          <a:prstGeom prst="rect">
            <a:avLst/>
          </a:prstGeom>
          <a:solidFill>
            <a:srgbClr val="FFF8E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marL="0" indent="0">
              <a:buNone/>
              <a:defRPr sz="1600" b="1">
                <a:solidFill>
                  <a:srgbClr val="D96C0C"/>
                </a:solidFill>
                <a:latin typeface="Calibri"/>
              </a:defRPr>
            </a:pPr>
            <a:r>
              <a:rPr lang="en-US" sz="1600" dirty="0" smtClean="0">
                <a:latin typeface="Times New Roman" panose="02020603050405020304" pitchFamily="18" charset="0"/>
                <a:cs typeface="Times New Roman" panose="02020603050405020304" pitchFamily="18" charset="0"/>
              </a:rPr>
              <a:t>    </a:t>
            </a:r>
            <a:r>
              <a:rPr sz="1600" dirty="0" smtClean="0">
                <a:latin typeface="Times New Roman" panose="02020603050405020304" pitchFamily="18" charset="0"/>
                <a:cs typeface="Times New Roman" panose="02020603050405020304" pitchFamily="18" charset="0"/>
              </a:rPr>
              <a:t>Implications </a:t>
            </a:r>
            <a:r>
              <a:rPr sz="1600" dirty="0">
                <a:latin typeface="Times New Roman" panose="02020603050405020304" pitchFamily="18" charset="0"/>
                <a:cs typeface="Times New Roman" panose="02020603050405020304" pitchFamily="18" charset="0"/>
              </a:rPr>
              <a:t>&amp; Recommendations</a:t>
            </a:r>
          </a:p>
          <a:p>
            <a:endParaRPr dirty="0">
              <a:latin typeface="Times New Roman" panose="02020603050405020304" pitchFamily="18" charset="0"/>
              <a:cs typeface="Times New Roman" panose="02020603050405020304" pitchFamily="18" charset="0"/>
            </a:endParaRPr>
          </a:p>
          <a:p>
            <a:pPr marL="0" indent="0">
              <a:spcBef>
                <a:spcPts val="1000"/>
              </a:spcBef>
              <a:buNone/>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 </a:t>
            </a:r>
            <a:r>
              <a:rPr sz="1200" dirty="0" smtClean="0">
                <a:latin typeface="Times New Roman" panose="02020603050405020304" pitchFamily="18" charset="0"/>
                <a:cs typeface="Times New Roman" panose="02020603050405020304" pitchFamily="18" charset="0"/>
              </a:rPr>
              <a:t>For </a:t>
            </a:r>
            <a:r>
              <a:rPr sz="1200" dirty="0">
                <a:latin typeface="Times New Roman" panose="02020603050405020304" pitchFamily="18" charset="0"/>
                <a:cs typeface="Times New Roman" panose="02020603050405020304" pitchFamily="18" charset="0"/>
              </a:rPr>
              <a:t>Job Seekers / Learners: Learn Python + SQL + JavaScript/</a:t>
            </a:r>
            <a:r>
              <a:rPr sz="1200" dirty="0" err="1">
                <a:latin typeface="Times New Roman" panose="02020603050405020304" pitchFamily="18" charset="0"/>
                <a:cs typeface="Times New Roman" panose="02020603050405020304" pitchFamily="18" charset="0"/>
              </a:rPr>
              <a:t>TypeScript</a:t>
            </a:r>
            <a:r>
              <a:rPr sz="1200" dirty="0">
                <a:latin typeface="Times New Roman" panose="02020603050405020304" pitchFamily="18" charset="0"/>
                <a:cs typeface="Times New Roman" panose="02020603050405020304" pitchFamily="18" charset="0"/>
              </a:rPr>
              <a:t> as the baseline stack. Add Rust or Go for high-value future roles in systems &amp; cloud.</a:t>
            </a:r>
          </a:p>
          <a:p>
            <a:pPr marL="0" indent="0">
              <a:spcBef>
                <a:spcPts val="1000"/>
              </a:spcBef>
              <a:buNone/>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 For Companies / Hiring: High demand shift to Python (AI/Data) and Rust/Go (performance, cloud-native). Plan to upskill Java teams to these languages.</a:t>
            </a:r>
          </a:p>
          <a:p>
            <a:pPr marL="0" indent="0">
              <a:spcBef>
                <a:spcPts val="1000"/>
              </a:spcBef>
              <a:buNone/>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 For Education / Curriculum: Focus training on Python for AI, and TypeScript instead of plain JavaScript. Introduce Rust for system programming.</a:t>
            </a:r>
          </a:p>
          <a:p>
            <a:pPr marL="0" indent="0">
              <a:spcBef>
                <a:spcPts val="1000"/>
              </a:spcBef>
              <a:buNone/>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 For Business Strategy: Web technologies (JS/TS) are not going away, but investment in Python ecosystems (data, ML, automation) will give highest ROI next year.</a:t>
            </a:r>
          </a:p>
          <a:p>
            <a:pPr marL="0" indent="0">
              <a:spcBef>
                <a:spcPts val="1000"/>
              </a:spcBef>
              <a:buNone/>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 For Project Planning: If starting a new project next year, prioritize Python backend + TypeScript frontend, consider Go for </a:t>
            </a:r>
            <a:r>
              <a:rPr sz="1200" dirty="0" err="1">
                <a:latin typeface="Times New Roman" panose="02020603050405020304" pitchFamily="18" charset="0"/>
                <a:cs typeface="Times New Roman" panose="02020603050405020304" pitchFamily="18" charset="0"/>
              </a:rPr>
              <a:t>microservices</a:t>
            </a:r>
            <a:r>
              <a:rPr sz="1200" dirty="0">
                <a:latin typeface="Times New Roman" panose="02020603050405020304" pitchFamily="18" charset="0"/>
                <a:cs typeface="Times New Roman" panose="02020603050405020304" pitchFamily="18" charset="0"/>
              </a:rPr>
              <a:t>, Rust for performance-critical parts.</a:t>
            </a:r>
          </a:p>
        </p:txBody>
      </p:sp>
    </p:spTree>
    <p:custDataLst>
      <p:tags r:id="rId1"/>
    </p:custDataLst>
    <p:extLst>
      <p:ext uri="{BB962C8B-B14F-4D97-AF65-F5344CB8AC3E}">
        <p14:creationId xmlns:p14="http://schemas.microsoft.com/office/powerpoint/2010/main" val="37012887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smtClean="0"/>
              <a:t>D.	DATABASE </a:t>
            </a:r>
            <a:r>
              <a:rPr lang="en-US" dirty="0"/>
              <a:t>TRENDS</a:t>
            </a:r>
          </a:p>
        </p:txBody>
      </p:sp>
      <p:sp>
        <p:nvSpPr>
          <p:cNvPr id="7" name="TextBox 6">
            <a:extLst>
              <a:ext uri="{FF2B5EF4-FFF2-40B4-BE49-F238E27FC236}">
                <a16:creationId xmlns:a16="http://schemas.microsoft.com/office/drawing/2014/main" id="{917A0CDF-0FE0-1DE3-5B09-44D4318623B8}"/>
              </a:ext>
            </a:extLst>
          </p:cNvPr>
          <p:cNvSpPr txBox="1"/>
          <p:nvPr/>
        </p:nvSpPr>
        <p:spPr>
          <a:xfrm>
            <a:off x="881252" y="1476527"/>
            <a:ext cx="10429495" cy="584775"/>
          </a:xfrm>
          <a:prstGeom prst="rect">
            <a:avLst/>
          </a:prstGeom>
          <a:noFill/>
        </p:spPr>
        <p:txBody>
          <a:bodyPr wrap="square" rtlCol="0">
            <a:spAutoFit/>
          </a:bodyPr>
          <a:lstStyle/>
          <a:p>
            <a:pPr>
              <a:defRPr sz="1100" i="1">
                <a:solidFill>
                  <a:srgbClr val="666666"/>
                </a:solidFill>
                <a:latin typeface="Calibri"/>
              </a:defRPr>
            </a:pPr>
            <a:r>
              <a:rPr lang="en-US" sz="1600" dirty="0">
                <a:latin typeface="Times New Roman" panose="02020603050405020304" pitchFamily="18" charset="0"/>
                <a:cs typeface="Times New Roman" panose="02020603050405020304" pitchFamily="18" charset="0"/>
              </a:rPr>
              <a:t>Insight: PostgreSQL dominates both current and future demand, SQLite &amp; </a:t>
            </a:r>
            <a:r>
              <a:rPr lang="en-US" sz="1600" dirty="0" smtClean="0">
                <a:latin typeface="Times New Roman" panose="02020603050405020304" pitchFamily="18" charset="0"/>
                <a:cs typeface="Times New Roman" panose="02020603050405020304" pitchFamily="18" charset="0"/>
              </a:rPr>
              <a:t>MongoDB/Redis </a:t>
            </a:r>
            <a:r>
              <a:rPr lang="en-US" sz="1600" dirty="0">
                <a:latin typeface="Times New Roman" panose="02020603050405020304" pitchFamily="18" charset="0"/>
                <a:cs typeface="Times New Roman" panose="02020603050405020304" pitchFamily="18" charset="0"/>
              </a:rPr>
              <a:t>growing, Oracle drops out, </a:t>
            </a:r>
            <a:r>
              <a:rPr lang="en-US" sz="1600" dirty="0" smtClean="0">
                <a:latin typeface="Times New Roman" panose="02020603050405020304" pitchFamily="18" charset="0"/>
                <a:cs typeface="Times New Roman" panose="02020603050405020304" pitchFamily="18" charset="0"/>
              </a:rPr>
              <a:t>Supabase </a:t>
            </a:r>
            <a:r>
              <a:rPr lang="en-US" sz="1600" dirty="0">
                <a:latin typeface="Times New Roman" panose="02020603050405020304" pitchFamily="18" charset="0"/>
                <a:cs typeface="Times New Roman" panose="02020603050405020304" pitchFamily="18" charset="0"/>
              </a:rPr>
              <a:t>enters Top 10 next year.</a:t>
            </a:r>
          </a:p>
        </p:txBody>
      </p:sp>
      <p:graphicFrame>
        <p:nvGraphicFramePr>
          <p:cNvPr id="18" name="Chart 17"/>
          <p:cNvGraphicFramePr>
            <a:graphicFrameLocks noGrp="1"/>
          </p:cNvGraphicFramePr>
          <p:nvPr>
            <p:extLst>
              <p:ext uri="{D42A27DB-BD31-4B8C-83A1-F6EECF244321}">
                <p14:modId xmlns:p14="http://schemas.microsoft.com/office/powerpoint/2010/main" val="2388126033"/>
              </p:ext>
            </p:extLst>
          </p:nvPr>
        </p:nvGraphicFramePr>
        <p:xfrm>
          <a:off x="248479" y="1999747"/>
          <a:ext cx="5995032" cy="44010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hart 18"/>
          <p:cNvGraphicFramePr>
            <a:graphicFrameLocks noGrp="1"/>
          </p:cNvGraphicFramePr>
          <p:nvPr>
            <p:extLst>
              <p:ext uri="{D42A27DB-BD31-4B8C-83A1-F6EECF244321}">
                <p14:modId xmlns:p14="http://schemas.microsoft.com/office/powerpoint/2010/main" val="1066872452"/>
              </p:ext>
            </p:extLst>
          </p:nvPr>
        </p:nvGraphicFramePr>
        <p:xfrm>
          <a:off x="6310948" y="1999746"/>
          <a:ext cx="5765095" cy="4401053"/>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15028874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a:bodyPr>
          <a:lstStyle/>
          <a:p>
            <a:r>
              <a:rPr lang="en-US" dirty="0"/>
              <a:t>DATABASE TRENDS - FINDINGS &amp; IMPLICATIONS</a:t>
            </a:r>
          </a:p>
        </p:txBody>
      </p:sp>
      <p:sp>
        <p:nvSpPr>
          <p:cNvPr id="6" name="Rectangle 5"/>
          <p:cNvSpPr/>
          <p:nvPr/>
        </p:nvSpPr>
        <p:spPr>
          <a:xfrm>
            <a:off x="862693" y="1610140"/>
            <a:ext cx="5181600" cy="4802588"/>
          </a:xfrm>
          <a:prstGeom prst="rect">
            <a:avLst/>
          </a:prstGeom>
          <a:solidFill>
            <a:srgbClr val="F2F6F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600" b="1">
                <a:solidFill>
                  <a:srgbClr val="1F77B4"/>
                </a:solidFill>
                <a:latin typeface="Calibri"/>
              </a:defRPr>
            </a:pPr>
            <a:r>
              <a:rPr sz="1600" dirty="0">
                <a:solidFill>
                  <a:schemeClr val="accent1">
                    <a:lumMod val="50000"/>
                  </a:schemeClr>
                </a:solidFill>
              </a:rPr>
              <a:t>Key Findings</a:t>
            </a:r>
          </a:p>
          <a:p>
            <a:endParaRPr dirty="0">
              <a:solidFill>
                <a:schemeClr val="accent1">
                  <a:lumMod val="50000"/>
                </a:schemeClr>
              </a:solidFill>
            </a:endParaRPr>
          </a:p>
          <a:p>
            <a:pPr>
              <a:spcBef>
                <a:spcPts val="1000"/>
              </a:spcBef>
              <a:defRPr sz="1150">
                <a:latin typeface="Calibri"/>
              </a:defRPr>
            </a:pPr>
            <a:r>
              <a:rPr sz="1200" dirty="0">
                <a:solidFill>
                  <a:schemeClr val="accent1">
                    <a:lumMod val="50000"/>
                  </a:schemeClr>
                </a:solidFill>
                <a:latin typeface="Times New Roman" panose="02020603050405020304" pitchFamily="18" charset="0"/>
                <a:cs typeface="Times New Roman" panose="02020603050405020304" pitchFamily="18" charset="0"/>
              </a:rPr>
              <a:t>1. PostgreSQL is clear leader: #1 both years (25.5k now, 23.9k next year) - 2x more than #2.</a:t>
            </a:r>
          </a:p>
          <a:p>
            <a:pPr>
              <a:spcBef>
                <a:spcPts val="1000"/>
              </a:spcBef>
              <a:defRPr sz="1150">
                <a:latin typeface="Calibri"/>
              </a:defRPr>
            </a:pPr>
            <a:r>
              <a:rPr sz="1200" dirty="0">
                <a:solidFill>
                  <a:schemeClr val="accent1">
                    <a:lumMod val="50000"/>
                  </a:schemeClr>
                </a:solidFill>
                <a:latin typeface="Times New Roman" panose="02020603050405020304" pitchFamily="18" charset="0"/>
                <a:cs typeface="Times New Roman" panose="02020603050405020304" pitchFamily="18" charset="0"/>
              </a:rPr>
              <a:t>2. MySQL drops: From #2 (21.1k) to #3 (12.2k) next year - losing preference.</a:t>
            </a:r>
          </a:p>
          <a:p>
            <a:pPr>
              <a:spcBef>
                <a:spcPts val="1000"/>
              </a:spcBef>
              <a:defRPr sz="1150">
                <a:latin typeface="Calibri"/>
              </a:defRPr>
            </a:pPr>
            <a:r>
              <a:rPr sz="1200" dirty="0">
                <a:solidFill>
                  <a:schemeClr val="accent1">
                    <a:lumMod val="50000"/>
                  </a:schemeClr>
                </a:solidFill>
                <a:latin typeface="Times New Roman" panose="02020603050405020304" pitchFamily="18" charset="0"/>
                <a:cs typeface="Times New Roman" panose="02020603050405020304" pitchFamily="18" charset="0"/>
              </a:rPr>
              <a:t>3. SQLite rises: From #3 to #2 for next year (13.4k) - light, embedded DB trend for mobile/edge.</a:t>
            </a:r>
          </a:p>
          <a:p>
            <a:pPr>
              <a:spcBef>
                <a:spcPts val="1000"/>
              </a:spcBef>
              <a:defRPr sz="1150">
                <a:latin typeface="Calibri"/>
              </a:defRPr>
            </a:pPr>
            <a:r>
              <a:rPr sz="1200" dirty="0">
                <a:solidFill>
                  <a:schemeClr val="accent1">
                    <a:lumMod val="50000"/>
                  </a:schemeClr>
                </a:solidFill>
                <a:latin typeface="Times New Roman" panose="02020603050405020304" pitchFamily="18" charset="0"/>
                <a:cs typeface="Times New Roman" panose="02020603050405020304" pitchFamily="18" charset="0"/>
              </a:rPr>
              <a:t>4. NoSQL stays strong: MongoDB and Redis stay in Top 5 both years - demand for flexible &amp; caching </a:t>
            </a:r>
            <a:r>
              <a:rPr sz="1200" dirty="0" err="1">
                <a:solidFill>
                  <a:schemeClr val="accent1">
                    <a:lumMod val="50000"/>
                  </a:schemeClr>
                </a:solidFill>
                <a:latin typeface="Times New Roman" panose="02020603050405020304" pitchFamily="18" charset="0"/>
                <a:cs typeface="Times New Roman" panose="02020603050405020304" pitchFamily="18" charset="0"/>
              </a:rPr>
              <a:t>DBs.</a:t>
            </a:r>
            <a:endParaRPr sz="1200" dirty="0">
              <a:solidFill>
                <a:schemeClr val="accent1">
                  <a:lumMod val="50000"/>
                </a:schemeClr>
              </a:solidFill>
              <a:latin typeface="Times New Roman" panose="02020603050405020304" pitchFamily="18" charset="0"/>
              <a:cs typeface="Times New Roman" panose="02020603050405020304" pitchFamily="18" charset="0"/>
            </a:endParaRPr>
          </a:p>
          <a:p>
            <a:pPr>
              <a:spcBef>
                <a:spcPts val="1000"/>
              </a:spcBef>
              <a:defRPr sz="1150">
                <a:latin typeface="Calibri"/>
              </a:defRPr>
            </a:pPr>
            <a:r>
              <a:rPr sz="1200" dirty="0">
                <a:solidFill>
                  <a:schemeClr val="accent1">
                    <a:lumMod val="50000"/>
                  </a:schemeClr>
                </a:solidFill>
                <a:latin typeface="Times New Roman" panose="02020603050405020304" pitchFamily="18" charset="0"/>
                <a:cs typeface="Times New Roman" panose="02020603050405020304" pitchFamily="18" charset="0"/>
              </a:rPr>
              <a:t>5. Microsoft SQL Server declines: #4 to #6 (13.2k -&gt; 7.8k) - shift away from enterprise proprietary.</a:t>
            </a:r>
          </a:p>
          <a:p>
            <a:pPr>
              <a:spcBef>
                <a:spcPts val="1000"/>
              </a:spcBef>
              <a:defRPr sz="1150">
                <a:latin typeface="Calibri"/>
              </a:defRPr>
            </a:pPr>
            <a:r>
              <a:rPr sz="1200" dirty="0">
                <a:solidFill>
                  <a:schemeClr val="accent1">
                    <a:lumMod val="50000"/>
                  </a:schemeClr>
                </a:solidFill>
                <a:latin typeface="Times New Roman" panose="02020603050405020304" pitchFamily="18" charset="0"/>
                <a:cs typeface="Times New Roman" panose="02020603050405020304" pitchFamily="18" charset="0"/>
              </a:rPr>
              <a:t>6. New trend: Oracle drops out of Top 10 next year, Supabase (open-source Firebase) enters at #10.</a:t>
            </a:r>
          </a:p>
        </p:txBody>
      </p:sp>
      <p:sp>
        <p:nvSpPr>
          <p:cNvPr id="7" name="Content Placeholder 6"/>
          <p:cNvSpPr>
            <a:spLocks noGrp="1"/>
          </p:cNvSpPr>
          <p:nvPr>
            <p:ph sz="half" idx="2"/>
          </p:nvPr>
        </p:nvSpPr>
        <p:spPr/>
        <p:txBody>
          <a:bodyPr/>
          <a:lstStyle/>
          <a:p>
            <a:endParaRPr lang="en-US"/>
          </a:p>
        </p:txBody>
      </p:sp>
      <p:sp>
        <p:nvSpPr>
          <p:cNvPr id="8" name="Rectangle 7"/>
          <p:cNvSpPr/>
          <p:nvPr/>
        </p:nvSpPr>
        <p:spPr>
          <a:xfrm>
            <a:off x="6172200" y="1520688"/>
            <a:ext cx="5259260" cy="4892040"/>
          </a:xfrm>
          <a:prstGeom prst="rect">
            <a:avLst/>
          </a:prstGeom>
          <a:solidFill>
            <a:srgbClr val="FFF8E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600" b="1">
                <a:solidFill>
                  <a:srgbClr val="D96C0C"/>
                </a:solidFill>
                <a:latin typeface="Calibri"/>
              </a:defRPr>
            </a:pPr>
            <a:r>
              <a:rPr sz="1600" dirty="0">
                <a:solidFill>
                  <a:srgbClr val="E97B49"/>
                </a:solidFill>
              </a:rPr>
              <a:t>Implications &amp; Recommendations</a:t>
            </a:r>
          </a:p>
          <a:p>
            <a:endParaRPr dirty="0">
              <a:solidFill>
                <a:srgbClr val="E97B49"/>
              </a:solidFill>
            </a:endParaRPr>
          </a:p>
          <a:p>
            <a:pPr>
              <a:spcBef>
                <a:spcPts val="1200"/>
              </a:spcBef>
              <a:defRPr sz="1150">
                <a:latin typeface="Calibri"/>
              </a:defRPr>
            </a:pPr>
            <a:r>
              <a:rPr sz="1200" dirty="0">
                <a:solidFill>
                  <a:srgbClr val="E97B49"/>
                </a:solidFill>
                <a:latin typeface="Times New Roman" panose="02020603050405020304" pitchFamily="18" charset="0"/>
                <a:cs typeface="Times New Roman" panose="02020603050405020304" pitchFamily="18" charset="0"/>
              </a:rPr>
              <a:t>• For Learners: Learn PostgreSQL as primary skill. Add SQLite for mobile/apps, and MongoDB/</a:t>
            </a:r>
            <a:r>
              <a:rPr sz="1200" dirty="0" err="1">
                <a:solidFill>
                  <a:srgbClr val="E97B49"/>
                </a:solidFill>
                <a:latin typeface="Times New Roman" panose="02020603050405020304" pitchFamily="18" charset="0"/>
                <a:cs typeface="Times New Roman" panose="02020603050405020304" pitchFamily="18" charset="0"/>
              </a:rPr>
              <a:t>Redis</a:t>
            </a:r>
            <a:r>
              <a:rPr sz="1200" dirty="0">
                <a:solidFill>
                  <a:srgbClr val="E97B49"/>
                </a:solidFill>
                <a:latin typeface="Times New Roman" panose="02020603050405020304" pitchFamily="18" charset="0"/>
                <a:cs typeface="Times New Roman" panose="02020603050405020304" pitchFamily="18" charset="0"/>
              </a:rPr>
              <a:t> for modern stacks.</a:t>
            </a:r>
          </a:p>
          <a:p>
            <a:pPr>
              <a:spcBef>
                <a:spcPts val="1200"/>
              </a:spcBef>
              <a:defRPr sz="1150">
                <a:latin typeface="Calibri"/>
              </a:defRPr>
            </a:pPr>
            <a:r>
              <a:rPr sz="1200" dirty="0">
                <a:solidFill>
                  <a:srgbClr val="E97B49"/>
                </a:solidFill>
                <a:latin typeface="Times New Roman" panose="02020603050405020304" pitchFamily="18" charset="0"/>
                <a:cs typeface="Times New Roman" panose="02020603050405020304" pitchFamily="18" charset="0"/>
              </a:rPr>
              <a:t>• For Companies: Standardize on PostgreSQL - it dominates current and future. Reduce Oracle / MS SQL licensing costs.</a:t>
            </a:r>
          </a:p>
          <a:p>
            <a:pPr>
              <a:spcBef>
                <a:spcPts val="1200"/>
              </a:spcBef>
              <a:defRPr sz="1150">
                <a:latin typeface="Calibri"/>
              </a:defRPr>
            </a:pPr>
            <a:r>
              <a:rPr sz="1200" dirty="0">
                <a:solidFill>
                  <a:srgbClr val="E97B49"/>
                </a:solidFill>
                <a:latin typeface="Times New Roman" panose="02020603050405020304" pitchFamily="18" charset="0"/>
                <a:cs typeface="Times New Roman" panose="02020603050405020304" pitchFamily="18" charset="0"/>
              </a:rPr>
              <a:t>• For Developers: NoSQL knowledge (MongoDB, Redis) is now mandatory alongside SQL - hybrid database skills needed.</a:t>
            </a:r>
          </a:p>
          <a:p>
            <a:pPr>
              <a:spcBef>
                <a:spcPts val="1200"/>
              </a:spcBef>
              <a:defRPr sz="1150">
                <a:latin typeface="Calibri"/>
              </a:defRPr>
            </a:pPr>
            <a:r>
              <a:rPr sz="1200" dirty="0">
                <a:solidFill>
                  <a:srgbClr val="E97B49"/>
                </a:solidFill>
                <a:latin typeface="Times New Roman" panose="02020603050405020304" pitchFamily="18" charset="0"/>
                <a:cs typeface="Times New Roman" panose="02020603050405020304" pitchFamily="18" charset="0"/>
              </a:rPr>
              <a:t>• For Future Projects: Consider Supabase for rapid prototyping - it is entering Top 10, open-source alternative to Firebase.</a:t>
            </a:r>
          </a:p>
          <a:p>
            <a:pPr>
              <a:spcBef>
                <a:spcPts val="1200"/>
              </a:spcBef>
              <a:defRPr sz="1150">
                <a:latin typeface="Calibri"/>
              </a:defRPr>
            </a:pPr>
            <a:r>
              <a:rPr sz="1200" dirty="0">
                <a:solidFill>
                  <a:srgbClr val="E97B49"/>
                </a:solidFill>
                <a:latin typeface="Times New Roman" panose="02020603050405020304" pitchFamily="18" charset="0"/>
                <a:cs typeface="Times New Roman" panose="02020603050405020304" pitchFamily="18" charset="0"/>
              </a:rPr>
              <a:t>• For Career: PostgreSQL + MongoDB + Redis combo is most future-proof. Oracle and MS SQL demand is declining.</a:t>
            </a:r>
          </a:p>
        </p:txBody>
      </p:sp>
    </p:spTree>
    <p:custDataLst>
      <p:tags r:id="rId1"/>
    </p:custDataLst>
    <p:extLst>
      <p:ext uri="{BB962C8B-B14F-4D97-AF65-F5344CB8AC3E}">
        <p14:creationId xmlns:p14="http://schemas.microsoft.com/office/powerpoint/2010/main" val="31881259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700"/>
          </a:xfrm>
          <a:prstGeom prst="rect">
            <a:avLst/>
          </a:prstGeom>
          <a:solidFill>
            <a:srgbClr val="646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752947" y="1645920"/>
            <a:ext cx="685800" cy="685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752947" y="1709420"/>
            <a:ext cx="685800" cy="685800"/>
          </a:xfrm>
          <a:prstGeom prst="rect">
            <a:avLst/>
          </a:prstGeom>
          <a:noFill/>
        </p:spPr>
        <p:txBody>
          <a:bodyPr wrap="square">
            <a:spAutoFit/>
          </a:bodyPr>
          <a:lstStyle/>
          <a:p>
            <a:pPr algn="ctr">
              <a:defRPr sz="3200">
                <a:solidFill>
                  <a:srgbClr val="FFFFFF"/>
                </a:solidFill>
              </a:defRPr>
            </a:pPr>
            <a:r>
              <a:rPr sz="3600">
                <a:solidFill>
                  <a:srgbClr val="FFFFFF"/>
                </a:solidFill>
              </a:rPr>
              <a:t>▤</a:t>
            </a:r>
          </a:p>
        </p:txBody>
      </p:sp>
      <p:sp>
        <p:nvSpPr>
          <p:cNvPr id="5" name="TextBox 4"/>
          <p:cNvSpPr txBox="1"/>
          <p:nvPr/>
        </p:nvSpPr>
        <p:spPr>
          <a:xfrm>
            <a:off x="4528751" y="2458720"/>
            <a:ext cx="3134191" cy="646331"/>
          </a:xfrm>
          <a:prstGeom prst="rect">
            <a:avLst/>
          </a:prstGeom>
          <a:noFill/>
        </p:spPr>
        <p:txBody>
          <a:bodyPr wrap="none">
            <a:spAutoFit/>
          </a:bodyPr>
          <a:lstStyle/>
          <a:p>
            <a:pPr algn="ctr">
              <a:defRPr sz="3600" b="1">
                <a:solidFill>
                  <a:srgbClr val="000000"/>
                </a:solidFill>
              </a:defRPr>
            </a:pPr>
            <a:r>
              <a:rPr dirty="0" smtClean="0">
                <a:latin typeface="Times New Roman" panose="02020603050405020304" pitchFamily="18" charset="0"/>
                <a:cs typeface="Times New Roman" panose="02020603050405020304" pitchFamily="18" charset="0"/>
              </a:rPr>
              <a:t>DASHBOARD</a:t>
            </a:r>
            <a:endParaRPr dirty="0">
              <a:latin typeface="Times New Roman" panose="02020603050405020304" pitchFamily="18" charset="0"/>
              <a:cs typeface="Times New Roman" panose="02020603050405020304" pitchFamily="18" charset="0"/>
            </a:endParaRPr>
          </a:p>
        </p:txBody>
      </p:sp>
      <p:sp>
        <p:nvSpPr>
          <p:cNvPr id="6" name="Rounded Rectangle 5"/>
          <p:cNvSpPr/>
          <p:nvPr/>
        </p:nvSpPr>
        <p:spPr>
          <a:xfrm>
            <a:off x="4815687" y="3200400"/>
            <a:ext cx="2560320" cy="294174"/>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rPr sz="1050" dirty="0">
                <a:latin typeface="Times New Roman" panose="02020603050405020304" pitchFamily="18" charset="0"/>
                <a:cs typeface="Times New Roman" panose="02020603050405020304" pitchFamily="18" charset="0"/>
              </a:rPr>
              <a:t>IBM COGNOS ANALYTICS • 3 TABS</a:t>
            </a:r>
          </a:p>
        </p:txBody>
      </p:sp>
      <p:sp>
        <p:nvSpPr>
          <p:cNvPr id="7" name="Rounded Rectangle 6"/>
          <p:cNvSpPr/>
          <p:nvPr/>
        </p:nvSpPr>
        <p:spPr>
          <a:xfrm>
            <a:off x="2255367" y="4023360"/>
            <a:ext cx="2377440" cy="12801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38247" y="4160520"/>
            <a:ext cx="2011680" cy="538609"/>
          </a:xfrm>
          <a:prstGeom prst="rect">
            <a:avLst/>
          </a:prstGeom>
          <a:noFill/>
        </p:spPr>
        <p:txBody>
          <a:bodyPr wrap="square">
            <a:spAutoFit/>
          </a:bodyPr>
          <a:lstStyle/>
          <a:p>
            <a:pPr>
              <a:spcAft>
                <a:spcPts val="600"/>
              </a:spcAft>
              <a:defRPr sz="900" b="1">
                <a:solidFill>
                  <a:srgbClr val="2563EB"/>
                </a:solidFill>
              </a:defRPr>
            </a:pPr>
            <a:r>
              <a:rPr sz="1200" dirty="0">
                <a:latin typeface="Times New Roman" panose="02020603050405020304" pitchFamily="18" charset="0"/>
                <a:cs typeface="Times New Roman" panose="02020603050405020304" pitchFamily="18" charset="0"/>
              </a:rPr>
              <a:t>TAB 1</a:t>
            </a:r>
          </a:p>
          <a:p>
            <a:pPr>
              <a:spcAft>
                <a:spcPts val="600"/>
              </a:spcAft>
              <a:defRPr sz="1100" b="1">
                <a:solidFill>
                  <a:srgbClr val="111827"/>
                </a:solidFill>
              </a:defRPr>
            </a:pPr>
            <a:r>
              <a:rPr sz="1200" dirty="0">
                <a:latin typeface="Times New Roman" panose="02020603050405020304" pitchFamily="18" charset="0"/>
                <a:cs typeface="Times New Roman" panose="02020603050405020304" pitchFamily="18" charset="0"/>
              </a:rPr>
              <a:t>Current Technology </a:t>
            </a:r>
            <a:r>
              <a:rPr sz="1200" dirty="0" smtClean="0">
                <a:latin typeface="Times New Roman" panose="02020603050405020304" pitchFamily="18" charset="0"/>
                <a:cs typeface="Times New Roman" panose="02020603050405020304" pitchFamily="18" charset="0"/>
              </a:rPr>
              <a:t>Usage</a:t>
            </a:r>
            <a:endParaRPr sz="1200" dirty="0">
              <a:latin typeface="Times New Roman" panose="02020603050405020304" pitchFamily="18" charset="0"/>
              <a:cs typeface="Times New Roman" panose="02020603050405020304" pitchFamily="18" charset="0"/>
            </a:endParaRPr>
          </a:p>
        </p:txBody>
      </p:sp>
      <p:sp>
        <p:nvSpPr>
          <p:cNvPr id="9" name="Rounded Rectangle 8"/>
          <p:cNvSpPr/>
          <p:nvPr/>
        </p:nvSpPr>
        <p:spPr>
          <a:xfrm>
            <a:off x="4907127" y="4023360"/>
            <a:ext cx="2377440" cy="12801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90007" y="4160520"/>
            <a:ext cx="2011680" cy="538609"/>
          </a:xfrm>
          <a:prstGeom prst="rect">
            <a:avLst/>
          </a:prstGeom>
          <a:noFill/>
        </p:spPr>
        <p:txBody>
          <a:bodyPr wrap="square">
            <a:spAutoFit/>
          </a:bodyPr>
          <a:lstStyle/>
          <a:p>
            <a:pPr>
              <a:spcAft>
                <a:spcPts val="600"/>
              </a:spcAft>
              <a:defRPr sz="900" b="1">
                <a:solidFill>
                  <a:srgbClr val="2563EB"/>
                </a:solidFill>
              </a:defRPr>
            </a:pPr>
            <a:r>
              <a:rPr sz="1200" dirty="0">
                <a:latin typeface="Times New Roman" panose="02020603050405020304" pitchFamily="18" charset="0"/>
                <a:cs typeface="Times New Roman" panose="02020603050405020304" pitchFamily="18" charset="0"/>
              </a:rPr>
              <a:t>TAB 2</a:t>
            </a:r>
          </a:p>
          <a:p>
            <a:pPr>
              <a:spcAft>
                <a:spcPts val="600"/>
              </a:spcAft>
              <a:defRPr sz="1100" b="1">
                <a:solidFill>
                  <a:srgbClr val="111827"/>
                </a:solidFill>
              </a:defRPr>
            </a:pPr>
            <a:r>
              <a:rPr sz="1200" dirty="0">
                <a:latin typeface="Times New Roman" panose="02020603050405020304" pitchFamily="18" charset="0"/>
                <a:cs typeface="Times New Roman" panose="02020603050405020304" pitchFamily="18" charset="0"/>
              </a:rPr>
              <a:t>Future </a:t>
            </a:r>
            <a:r>
              <a:rPr lang="en-US" sz="1200" dirty="0" smtClean="0">
                <a:latin typeface="Times New Roman" panose="02020603050405020304" pitchFamily="18" charset="0"/>
                <a:cs typeface="Times New Roman" panose="02020603050405020304" pitchFamily="18" charset="0"/>
              </a:rPr>
              <a:t>Technology </a:t>
            </a:r>
            <a:r>
              <a:rPr sz="1200" dirty="0" smtClean="0">
                <a:latin typeface="Times New Roman" panose="02020603050405020304" pitchFamily="18" charset="0"/>
                <a:cs typeface="Times New Roman" panose="02020603050405020304" pitchFamily="18" charset="0"/>
              </a:rPr>
              <a:t>Trends</a:t>
            </a:r>
            <a:endParaRPr sz="1200" dirty="0">
              <a:latin typeface="Times New Roman" panose="02020603050405020304" pitchFamily="18" charset="0"/>
              <a:cs typeface="Times New Roman" panose="02020603050405020304" pitchFamily="18" charset="0"/>
            </a:endParaRPr>
          </a:p>
        </p:txBody>
      </p:sp>
      <p:sp>
        <p:nvSpPr>
          <p:cNvPr id="11" name="Rounded Rectangle 10"/>
          <p:cNvSpPr/>
          <p:nvPr/>
        </p:nvSpPr>
        <p:spPr>
          <a:xfrm>
            <a:off x="7558887" y="4023360"/>
            <a:ext cx="2377440" cy="128016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41767" y="4160520"/>
            <a:ext cx="2011680" cy="538609"/>
          </a:xfrm>
          <a:prstGeom prst="rect">
            <a:avLst/>
          </a:prstGeom>
          <a:noFill/>
        </p:spPr>
        <p:txBody>
          <a:bodyPr wrap="square">
            <a:spAutoFit/>
          </a:bodyPr>
          <a:lstStyle/>
          <a:p>
            <a:pPr>
              <a:spcAft>
                <a:spcPts val="600"/>
              </a:spcAft>
              <a:defRPr sz="900" b="1">
                <a:solidFill>
                  <a:srgbClr val="2563EB"/>
                </a:solidFill>
              </a:defRPr>
            </a:pPr>
            <a:r>
              <a:rPr sz="1200" dirty="0">
                <a:latin typeface="Times New Roman" panose="02020603050405020304" pitchFamily="18" charset="0"/>
                <a:cs typeface="Times New Roman" panose="02020603050405020304" pitchFamily="18" charset="0"/>
              </a:rPr>
              <a:t>TAB 3</a:t>
            </a:r>
          </a:p>
          <a:p>
            <a:pPr>
              <a:spcAft>
                <a:spcPts val="600"/>
              </a:spcAft>
              <a:defRPr sz="1100" b="1">
                <a:solidFill>
                  <a:srgbClr val="111827"/>
                </a:solidFill>
              </a:defRPr>
            </a:pPr>
            <a:r>
              <a:rPr sz="1200" dirty="0" smtClean="0">
                <a:latin typeface="Times New Roman" panose="02020603050405020304" pitchFamily="18" charset="0"/>
                <a:cs typeface="Times New Roman" panose="02020603050405020304" pitchFamily="18" charset="0"/>
              </a:rPr>
              <a:t>Demographics</a:t>
            </a:r>
            <a:endParaRPr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82806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716521" y="524149"/>
            <a:ext cx="11087100" cy="985693"/>
          </a:xfrm>
        </p:spPr>
        <p:txBody>
          <a:bodyPr anchor="ctr">
            <a:noAutofit/>
          </a:bodyPr>
          <a:lstStyle/>
          <a:p>
            <a:r>
              <a:rPr lang="en-US" dirty="0"/>
              <a:t>DASHBOARD TAB 1: Current Technology Usage</a:t>
            </a:r>
          </a:p>
        </p:txBody>
      </p:sp>
      <p:pic>
        <p:nvPicPr>
          <p:cNvPr id="5" name="Picture 4" descr="dashboard_current_cropped.png"/>
          <p:cNvPicPr>
            <a:picLocks noChangeAspect="1"/>
          </p:cNvPicPr>
          <p:nvPr/>
        </p:nvPicPr>
        <p:blipFill>
          <a:blip r:embed="rId4"/>
          <a:stretch>
            <a:fillRect/>
          </a:stretch>
        </p:blipFill>
        <p:spPr>
          <a:xfrm>
            <a:off x="488605" y="1390574"/>
            <a:ext cx="7498079" cy="5029200"/>
          </a:xfrm>
          <a:prstGeom prst="rect">
            <a:avLst/>
          </a:prstGeom>
        </p:spPr>
      </p:pic>
      <p:sp>
        <p:nvSpPr>
          <p:cNvPr id="11" name="Rectangle 10"/>
          <p:cNvSpPr/>
          <p:nvPr/>
        </p:nvSpPr>
        <p:spPr>
          <a:xfrm>
            <a:off x="7750534" y="1420391"/>
            <a:ext cx="4206240" cy="1463040"/>
          </a:xfrm>
          <a:prstGeom prst="rect">
            <a:avLst/>
          </a:prstGeom>
          <a:solidFill>
            <a:srgbClr val="DBE9FF"/>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400" b="1">
                <a:solidFill>
                  <a:srgbClr val="0B3D91"/>
                </a:solidFill>
                <a:latin typeface="Calibri"/>
              </a:defRPr>
            </a:pPr>
            <a:r>
              <a:rPr dirty="0"/>
              <a:t>📊 DASHBOARD INSIGHT</a:t>
            </a:r>
          </a:p>
          <a:p>
            <a:endParaRPr dirty="0"/>
          </a:p>
          <a:p>
            <a:pPr>
              <a:spcBef>
                <a:spcPts val="600"/>
              </a:spcBef>
              <a:defRPr sz="1100">
                <a:latin typeface="Calibri"/>
              </a:defRPr>
            </a:pPr>
            <a:r>
              <a:rPr sz="1200" dirty="0">
                <a:latin typeface="Times New Roman" panose="02020603050405020304" pitchFamily="18" charset="0"/>
                <a:cs typeface="Times New Roman" panose="02020603050405020304" pitchFamily="18" charset="0"/>
              </a:rPr>
              <a:t>This Cognos dashboard shows CURRENT technology stacks actually used by developers across 4 areas: Languages, Databases, Platforms, and Web Frameworks. Data is based on Count of users who </a:t>
            </a:r>
            <a:r>
              <a:rPr lang="en-US" sz="1200" dirty="0" smtClean="0">
                <a:latin typeface="Times New Roman" panose="02020603050405020304" pitchFamily="18" charset="0"/>
                <a:cs typeface="Times New Roman" panose="02020603050405020304" pitchFamily="18" charset="0"/>
              </a:rPr>
              <a:t>have worked with</a:t>
            </a:r>
            <a:r>
              <a:rPr sz="1200" dirty="0" smtClean="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each technology.</a:t>
            </a:r>
          </a:p>
        </p:txBody>
      </p:sp>
      <p:sp>
        <p:nvSpPr>
          <p:cNvPr id="12" name="Rectangle 11"/>
          <p:cNvSpPr/>
          <p:nvPr/>
        </p:nvSpPr>
        <p:spPr>
          <a:xfrm>
            <a:off x="7750533" y="3031435"/>
            <a:ext cx="4206240" cy="3031435"/>
          </a:xfrm>
          <a:prstGeom prst="rect">
            <a:avLst/>
          </a:prstGeom>
          <a:solidFill>
            <a:srgbClr val="FFF5D6"/>
          </a:solidFill>
          <a:ln w="25400">
            <a:solidFill>
              <a:srgbClr val="D96C0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400" b="1">
                <a:solidFill>
                  <a:srgbClr val="7A3E00"/>
                </a:solidFill>
                <a:latin typeface="Calibri"/>
              </a:defRPr>
            </a:pPr>
            <a:r>
              <a:rPr dirty="0" smtClean="0"/>
              <a:t> SUMMAR</a:t>
            </a:r>
            <a:r>
              <a:rPr lang="en-US" dirty="0"/>
              <a:t>Y</a:t>
            </a:r>
            <a:r>
              <a:rPr lang="en-US" dirty="0" smtClean="0"/>
              <a:t> OF </a:t>
            </a:r>
            <a:r>
              <a:rPr dirty="0" smtClean="0"/>
              <a:t>KEY INSIGHTS</a:t>
            </a:r>
            <a:endParaRPr dirty="0"/>
          </a:p>
          <a:p>
            <a:endParaRPr dirty="0"/>
          </a:p>
          <a:p>
            <a:pPr>
              <a:spcBef>
                <a:spcPts val="600"/>
              </a:spcBef>
              <a:defRPr sz="1000">
                <a:solidFill>
                  <a:srgbClr val="222222"/>
                </a:solidFill>
                <a:latin typeface="Calibri"/>
              </a:defRPr>
            </a:pPr>
            <a:r>
              <a:rPr sz="1200" dirty="0" smtClean="0">
                <a:latin typeface="Times New Roman" panose="02020603050405020304" pitchFamily="18" charset="0"/>
                <a:cs typeface="Times New Roman" panose="02020603050405020304" pitchFamily="18" charset="0"/>
              </a:rPr>
              <a:t>1</a:t>
            </a:r>
            <a:r>
              <a:rPr sz="1200" dirty="0">
                <a:latin typeface="Times New Roman" panose="02020603050405020304" pitchFamily="18" charset="0"/>
                <a:cs typeface="Times New Roman" panose="02020603050405020304" pitchFamily="18" charset="0"/>
              </a:rPr>
              <a:t>. Languages: HTML/CSS;JS;TS combo #1 (291). Full-stack JS dominates current work.</a:t>
            </a:r>
          </a:p>
          <a:p>
            <a:pPr>
              <a:spcBef>
                <a:spcPts val="600"/>
              </a:spcBef>
              <a:defRPr sz="1000">
                <a:solidFill>
                  <a:srgbClr val="222222"/>
                </a:solidFill>
                <a:latin typeface="Calibri"/>
              </a:defRPr>
            </a:pPr>
            <a:r>
              <a:rPr sz="1200" dirty="0" smtClean="0">
                <a:latin typeface="Times New Roman" panose="02020603050405020304" pitchFamily="18" charset="0"/>
                <a:cs typeface="Times New Roman" panose="02020603050405020304" pitchFamily="18" charset="0"/>
              </a:rPr>
              <a:t>2</a:t>
            </a:r>
            <a:r>
              <a:rPr sz="1200" dirty="0">
                <a:latin typeface="Times New Roman" panose="02020603050405020304" pitchFamily="18" charset="0"/>
                <a:cs typeface="Times New Roman" panose="02020603050405020304" pitchFamily="18" charset="0"/>
              </a:rPr>
              <a:t>. Databases: PostgreSQL #1 (994) - double MySQL combo (689). PostgreSQL is the clear winner.</a:t>
            </a:r>
          </a:p>
          <a:p>
            <a:pPr>
              <a:spcBef>
                <a:spcPts val="600"/>
              </a:spcBef>
              <a:defRPr sz="1000">
                <a:solidFill>
                  <a:srgbClr val="222222"/>
                </a:solidFill>
                <a:latin typeface="Calibri"/>
              </a:defRPr>
            </a:pPr>
            <a:r>
              <a:rPr sz="1200" dirty="0" smtClean="0">
                <a:latin typeface="Times New Roman" panose="02020603050405020304" pitchFamily="18" charset="0"/>
                <a:cs typeface="Times New Roman" panose="02020603050405020304" pitchFamily="18" charset="0"/>
              </a:rPr>
              <a:t>3</a:t>
            </a:r>
            <a:r>
              <a:rPr sz="1200" dirty="0">
                <a:latin typeface="Times New Roman" panose="02020603050405020304" pitchFamily="18" charset="0"/>
                <a:cs typeface="Times New Roman" panose="02020603050405020304" pitchFamily="18" charset="0"/>
              </a:rPr>
              <a:t>. Platforms: AWS (2,391) is massive - 10x bigger than next platform. Azure #2.</a:t>
            </a:r>
          </a:p>
          <a:p>
            <a:pPr>
              <a:spcBef>
                <a:spcPts val="600"/>
              </a:spcBef>
              <a:defRPr sz="1000">
                <a:solidFill>
                  <a:srgbClr val="222222"/>
                </a:solidFill>
                <a:latin typeface="Calibri"/>
              </a:defRPr>
            </a:pPr>
            <a:r>
              <a:rPr sz="1200" dirty="0" smtClean="0">
                <a:latin typeface="Times New Roman" panose="02020603050405020304" pitchFamily="18" charset="0"/>
                <a:cs typeface="Times New Roman" panose="02020603050405020304" pitchFamily="18" charset="0"/>
              </a:rPr>
              <a:t>4</a:t>
            </a:r>
            <a:r>
              <a:rPr sz="1200" dirty="0">
                <a:latin typeface="Times New Roman" panose="02020603050405020304" pitchFamily="18" charset="0"/>
                <a:cs typeface="Times New Roman" panose="02020603050405020304" pitchFamily="18" charset="0"/>
              </a:rPr>
              <a:t>. </a:t>
            </a:r>
            <a:r>
              <a:rPr sz="1200" dirty="0" smtClean="0">
                <a:latin typeface="Times New Roman" panose="02020603050405020304" pitchFamily="18" charset="0"/>
                <a:cs typeface="Times New Roman" panose="02020603050405020304" pitchFamily="18" charset="0"/>
              </a:rPr>
              <a:t>Web</a:t>
            </a:r>
            <a:r>
              <a:rPr lang="en-US" sz="1200" dirty="0" smtClean="0">
                <a:latin typeface="Times New Roman" panose="02020603050405020304" pitchFamily="18" charset="0"/>
                <a:cs typeface="Times New Roman" panose="02020603050405020304" pitchFamily="18" charset="0"/>
              </a:rPr>
              <a:t>F</a:t>
            </a:r>
            <a:r>
              <a:rPr sz="1200" dirty="0" smtClean="0">
                <a:latin typeface="Times New Roman" panose="02020603050405020304" pitchFamily="18" charset="0"/>
                <a:cs typeface="Times New Roman" panose="02020603050405020304" pitchFamily="18" charset="0"/>
              </a:rPr>
              <a:t>rames</a:t>
            </a:r>
            <a:r>
              <a:rPr sz="1200" dirty="0">
                <a:latin typeface="Times New Roman" panose="02020603050405020304" pitchFamily="18" charset="0"/>
                <a:cs typeface="Times New Roman" panose="02020603050405020304" pitchFamily="18" charset="0"/>
              </a:rPr>
              <a:t>: Spring Boot is largest bubble, then React, ASP.NET CORE - Enterprise Java + React dominates.</a:t>
            </a:r>
          </a:p>
          <a:p>
            <a:pPr>
              <a:spcBef>
                <a:spcPts val="600"/>
              </a:spcBef>
              <a:defRPr sz="1000">
                <a:solidFill>
                  <a:srgbClr val="222222"/>
                </a:solidFill>
                <a:latin typeface="Calibri"/>
              </a:defRPr>
            </a:pPr>
            <a:r>
              <a:rPr sz="1200" dirty="0" smtClean="0">
                <a:latin typeface="Times New Roman" panose="02020603050405020304" pitchFamily="18" charset="0"/>
                <a:cs typeface="Times New Roman" panose="02020603050405020304" pitchFamily="18" charset="0"/>
              </a:rPr>
              <a:t>5</a:t>
            </a:r>
            <a:r>
              <a:rPr sz="1200" dirty="0">
                <a:latin typeface="Times New Roman" panose="02020603050405020304" pitchFamily="18" charset="0"/>
                <a:cs typeface="Times New Roman" panose="02020603050405020304" pitchFamily="18" charset="0"/>
              </a:rPr>
              <a:t>. Overall: Stack = TypeScript/JavaScript + PostgreSQL + AWS + Spring Boot/React.</a:t>
            </a:r>
          </a:p>
        </p:txBody>
      </p:sp>
      <p:sp>
        <p:nvSpPr>
          <p:cNvPr id="13" name="TextBox 12"/>
          <p:cNvSpPr txBox="1"/>
          <p:nvPr/>
        </p:nvSpPr>
        <p:spPr>
          <a:xfrm>
            <a:off x="343893" y="5818367"/>
            <a:ext cx="11612880" cy="822960"/>
          </a:xfrm>
          <a:prstGeom prst="rect">
            <a:avLst/>
          </a:prstGeom>
          <a:noFill/>
        </p:spPr>
        <p:txBody>
          <a:bodyPr wrap="square">
            <a:spAutoFit/>
          </a:bodyPr>
          <a:lstStyle/>
          <a:p>
            <a:pPr>
              <a:defRPr sz="800">
                <a:solidFill>
                  <a:srgbClr val="666666"/>
                </a:solidFill>
                <a:latin typeface="Calibri"/>
              </a:defRPr>
            </a:pPr>
            <a:r>
              <a:rPr dirty="0"/>
              <a:t>Reference: IBM Cognos Analytics - </a:t>
            </a:r>
            <a:r>
              <a:rPr dirty="0" err="1"/>
              <a:t>Current_Technology_Usage</a:t>
            </a:r>
            <a:r>
              <a:rPr dirty="0"/>
              <a:t> Dashboard</a:t>
            </a:r>
          </a:p>
          <a:p>
            <a:pPr>
              <a:defRPr sz="800">
                <a:solidFill>
                  <a:srgbClr val="666666"/>
                </a:solidFill>
                <a:latin typeface="Calibri"/>
              </a:defRPr>
            </a:pPr>
            <a:r>
              <a:rPr dirty="0"/>
              <a:t>https://eu2.ca.analytics.ibm.com/bi/?perspective=dashboard&amp;id=i0BD7952362FA42108C71CE0249272359</a:t>
            </a:r>
          </a:p>
        </p:txBody>
      </p:sp>
    </p:spTree>
    <p:custDataLst>
      <p:tags r:id="rId1"/>
    </p:custDataLst>
    <p:extLst>
      <p:ext uri="{BB962C8B-B14F-4D97-AF65-F5344CB8AC3E}">
        <p14:creationId xmlns:p14="http://schemas.microsoft.com/office/powerpoint/2010/main" val="24297367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a:bodyPr>
          <a:lstStyle/>
          <a:p>
            <a:r>
              <a:rPr lang="en-US" dirty="0"/>
              <a:t>DASHBOARD TAB 2: Future Technology Trends</a:t>
            </a:r>
          </a:p>
        </p:txBody>
      </p:sp>
      <p:pic>
        <p:nvPicPr>
          <p:cNvPr id="5" name="Picture 4" descr="future_dashboard_cropped.png"/>
          <p:cNvPicPr>
            <a:picLocks noChangeAspect="1"/>
          </p:cNvPicPr>
          <p:nvPr/>
        </p:nvPicPr>
        <p:blipFill>
          <a:blip r:embed="rId3"/>
          <a:stretch>
            <a:fillRect/>
          </a:stretch>
        </p:blipFill>
        <p:spPr>
          <a:xfrm>
            <a:off x="603899" y="1417321"/>
            <a:ext cx="7132320" cy="4937760"/>
          </a:xfrm>
          <a:prstGeom prst="rect">
            <a:avLst/>
          </a:prstGeom>
        </p:spPr>
      </p:pic>
      <p:sp>
        <p:nvSpPr>
          <p:cNvPr id="6" name="Rectangle 5"/>
          <p:cNvSpPr/>
          <p:nvPr/>
        </p:nvSpPr>
        <p:spPr>
          <a:xfrm>
            <a:off x="7656635" y="1421927"/>
            <a:ext cx="4206240" cy="1463040"/>
          </a:xfrm>
          <a:prstGeom prst="rect">
            <a:avLst/>
          </a:prstGeom>
          <a:solidFill>
            <a:srgbClr val="DBE9FF"/>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400" b="1">
                <a:solidFill>
                  <a:srgbClr val="0B3D91"/>
                </a:solidFill>
                <a:latin typeface="Calibri"/>
              </a:defRPr>
            </a:pPr>
            <a:r>
              <a:rPr sz="1400" dirty="0"/>
              <a:t>📊 DASHBOARD INSIGHT</a:t>
            </a:r>
          </a:p>
          <a:p>
            <a:endParaRPr dirty="0"/>
          </a:p>
          <a:p>
            <a:pPr>
              <a:spcBef>
                <a:spcPts val="600"/>
              </a:spcBef>
              <a:defRPr sz="1100">
                <a:latin typeface="Calibri"/>
              </a:defRPr>
            </a:pPr>
            <a:r>
              <a:rPr sz="1200" dirty="0">
                <a:latin typeface="Times New Roman" panose="02020603050405020304" pitchFamily="18" charset="0"/>
                <a:cs typeface="Times New Roman" panose="02020603050405020304" pitchFamily="18" charset="0"/>
              </a:rPr>
              <a:t>This dashboard shows FUTURE technology desires - what developers </a:t>
            </a:r>
            <a:r>
              <a:rPr lang="en-US" sz="1200" dirty="0">
                <a:latin typeface="Times New Roman" panose="02020603050405020304" pitchFamily="18" charset="0"/>
                <a:cs typeface="Times New Roman" panose="02020603050405020304" pitchFamily="18" charset="0"/>
              </a:rPr>
              <a:t>w</a:t>
            </a:r>
            <a:r>
              <a:rPr sz="1200" dirty="0" smtClean="0">
                <a:latin typeface="Times New Roman" panose="02020603050405020304" pitchFamily="18" charset="0"/>
                <a:cs typeface="Times New Roman" panose="02020603050405020304" pitchFamily="18" charset="0"/>
              </a:rPr>
              <a:t>ant</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t</a:t>
            </a:r>
            <a:r>
              <a:rPr sz="1200" dirty="0" smtClean="0">
                <a:latin typeface="Times New Roman" panose="02020603050405020304" pitchFamily="18" charset="0"/>
                <a:cs typeface="Times New Roman" panose="02020603050405020304" pitchFamily="18" charset="0"/>
              </a:rPr>
              <a:t>o</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w</a:t>
            </a:r>
            <a:r>
              <a:rPr sz="1200" dirty="0" smtClean="0">
                <a:latin typeface="Times New Roman" panose="02020603050405020304" pitchFamily="18" charset="0"/>
                <a:cs typeface="Times New Roman" panose="02020603050405020304" pitchFamily="18" charset="0"/>
              </a:rPr>
              <a:t>ork</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w</a:t>
            </a:r>
            <a:r>
              <a:rPr sz="1200" dirty="0" smtClean="0">
                <a:latin typeface="Times New Roman" panose="02020603050405020304" pitchFamily="18" charset="0"/>
                <a:cs typeface="Times New Roman" panose="02020603050405020304" pitchFamily="18" charset="0"/>
              </a:rPr>
              <a:t>ith </a:t>
            </a:r>
            <a:r>
              <a:rPr sz="1200" dirty="0">
                <a:latin typeface="Times New Roman" panose="02020603050405020304" pitchFamily="18" charset="0"/>
                <a:cs typeface="Times New Roman" panose="02020603050405020304" pitchFamily="18" charset="0"/>
              </a:rPr>
              <a:t>next year. Covers same 4 areas: Languages, Databases, Platforms, </a:t>
            </a:r>
            <a:r>
              <a:rPr sz="1200" dirty="0" smtClean="0">
                <a:latin typeface="Times New Roman" panose="02020603050405020304" pitchFamily="18" charset="0"/>
                <a:cs typeface="Times New Roman" panose="02020603050405020304" pitchFamily="18" charset="0"/>
              </a:rPr>
              <a:t>Web</a:t>
            </a:r>
            <a:r>
              <a:rPr lang="en-US" sz="1200" dirty="0" smtClean="0">
                <a:latin typeface="Times New Roman" panose="02020603050405020304" pitchFamily="18" charset="0"/>
                <a:cs typeface="Times New Roman" panose="02020603050405020304" pitchFamily="18" charset="0"/>
              </a:rPr>
              <a:t>F</a:t>
            </a:r>
            <a:r>
              <a:rPr sz="1200" dirty="0" smtClean="0">
                <a:latin typeface="Times New Roman" panose="02020603050405020304" pitchFamily="18" charset="0"/>
                <a:cs typeface="Times New Roman" panose="02020603050405020304" pitchFamily="18" charset="0"/>
              </a:rPr>
              <a:t>rames</a:t>
            </a:r>
            <a:r>
              <a:rPr sz="1200" dirty="0">
                <a:latin typeface="Times New Roman" panose="02020603050405020304" pitchFamily="18" charset="0"/>
                <a:cs typeface="Times New Roman" panose="02020603050405020304" pitchFamily="18" charset="0"/>
              </a:rPr>
              <a:t>, based on future interest counts.</a:t>
            </a:r>
          </a:p>
        </p:txBody>
      </p:sp>
      <p:sp>
        <p:nvSpPr>
          <p:cNvPr id="7" name="Rectangle 6"/>
          <p:cNvSpPr/>
          <p:nvPr/>
        </p:nvSpPr>
        <p:spPr>
          <a:xfrm>
            <a:off x="7656635" y="3024113"/>
            <a:ext cx="4206240" cy="3192527"/>
          </a:xfrm>
          <a:prstGeom prst="rect">
            <a:avLst/>
          </a:prstGeom>
          <a:solidFill>
            <a:srgbClr val="FFF5D6"/>
          </a:solidFill>
          <a:ln w="25400">
            <a:solidFill>
              <a:srgbClr val="D96C0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400" b="1">
                <a:solidFill>
                  <a:srgbClr val="7A3E00"/>
                </a:solidFill>
                <a:latin typeface="Calibri"/>
              </a:defRPr>
            </a:pPr>
            <a:r>
              <a:rPr sz="1400" dirty="0"/>
              <a:t>🔍 </a:t>
            </a:r>
            <a:r>
              <a:rPr sz="1400" dirty="0" smtClean="0"/>
              <a:t>SUMMAR</a:t>
            </a:r>
            <a:r>
              <a:rPr lang="en-US" sz="1400" dirty="0" smtClean="0"/>
              <a:t>Y </a:t>
            </a:r>
            <a:r>
              <a:rPr lang="en-US" sz="1400" dirty="0" smtClean="0"/>
              <a:t>OF </a:t>
            </a:r>
            <a:r>
              <a:rPr sz="1400" dirty="0" smtClean="0"/>
              <a:t>K</a:t>
            </a:r>
            <a:r>
              <a:rPr lang="en-US" sz="1400" dirty="0" smtClean="0"/>
              <a:t>E</a:t>
            </a:r>
            <a:r>
              <a:rPr sz="1400" dirty="0" smtClean="0"/>
              <a:t>Y INSIGHTS</a:t>
            </a:r>
            <a:endParaRPr sz="1400" dirty="0"/>
          </a:p>
          <a:p>
            <a:pPr>
              <a:spcBef>
                <a:spcPts val="600"/>
              </a:spcBef>
              <a:defRPr sz="1000">
                <a:latin typeface="Calibri"/>
              </a:defRPr>
            </a:pPr>
            <a:endParaRPr lang="en-US" sz="1000" dirty="0" smtClean="0"/>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1</a:t>
            </a:r>
            <a:r>
              <a:rPr sz="1200" dirty="0">
                <a:latin typeface="Times New Roman" panose="02020603050405020304" pitchFamily="18" charset="0"/>
                <a:cs typeface="Times New Roman" panose="02020603050405020304" pitchFamily="18" charset="0"/>
              </a:rPr>
              <a:t>. Languages: C#;HTML/CSS/JS/SQL/TS #1 (230), HTML/CSS/JS/TS #2 (217) - TypeScript full-stack most desired.</a:t>
            </a:r>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2</a:t>
            </a:r>
            <a:r>
              <a:rPr sz="1200" dirty="0">
                <a:latin typeface="Times New Roman" panose="02020603050405020304" pitchFamily="18" charset="0"/>
                <a:cs typeface="Times New Roman" panose="02020603050405020304" pitchFamily="18" charset="0"/>
              </a:rPr>
              <a:t>. Databases: PostgreSQL #1 (1,265) huge lead over MS SQL (622). PostgreSQL + Redis combo rising (446).</a:t>
            </a:r>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3</a:t>
            </a:r>
            <a:r>
              <a:rPr sz="1200" dirty="0">
                <a:latin typeface="Times New Roman" panose="02020603050405020304" pitchFamily="18" charset="0"/>
                <a:cs typeface="Times New Roman" panose="02020603050405020304" pitchFamily="18" charset="0"/>
              </a:rPr>
              <a:t>. Platforms: AWS #1 (2,362) still leads future, Microsoft Azure #2, AWS+Google Cloud combo growing.</a:t>
            </a:r>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4</a:t>
            </a:r>
            <a:r>
              <a:rPr sz="1200" dirty="0">
                <a:latin typeface="Times New Roman" panose="02020603050405020304" pitchFamily="18" charset="0"/>
                <a:cs typeface="Times New Roman" panose="02020603050405020304" pitchFamily="18" charset="0"/>
              </a:rPr>
              <a:t>. Webframes: Spring Boot biggest bubble (future #1), then React, ASP.NET CORE - Spring Boot + React stays top.</a:t>
            </a:r>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5</a:t>
            </a:r>
            <a:r>
              <a:rPr sz="1200" dirty="0">
                <a:latin typeface="Times New Roman" panose="02020603050405020304" pitchFamily="18" charset="0"/>
                <a:cs typeface="Times New Roman" panose="02020603050405020304" pitchFamily="18" charset="0"/>
              </a:rPr>
              <a:t>. Overall: Future = TypeScript-focused full-stack + PostgreSQL + AWS + Spring Boot/React.</a:t>
            </a:r>
          </a:p>
        </p:txBody>
      </p:sp>
      <p:sp>
        <p:nvSpPr>
          <p:cNvPr id="9" name="TextBox 8"/>
          <p:cNvSpPr txBox="1"/>
          <p:nvPr/>
        </p:nvSpPr>
        <p:spPr>
          <a:xfrm>
            <a:off x="448887" y="5878086"/>
            <a:ext cx="11612880" cy="338554"/>
          </a:xfrm>
          <a:prstGeom prst="rect">
            <a:avLst/>
          </a:prstGeom>
          <a:noFill/>
        </p:spPr>
        <p:txBody>
          <a:bodyPr wrap="square">
            <a:spAutoFit/>
          </a:bodyPr>
          <a:lstStyle/>
          <a:p>
            <a:pPr>
              <a:defRPr sz="800">
                <a:solidFill>
                  <a:srgbClr val="666666"/>
                </a:solidFill>
                <a:latin typeface="Calibri"/>
              </a:defRPr>
            </a:pPr>
            <a:r>
              <a:rPr sz="800" dirty="0"/>
              <a:t>Reference: IBM Cognos Analytics - </a:t>
            </a:r>
            <a:r>
              <a:rPr sz="800" dirty="0" err="1"/>
              <a:t>Future_Technology_Trend</a:t>
            </a:r>
            <a:r>
              <a:rPr sz="800" dirty="0"/>
              <a:t> Dashboard</a:t>
            </a:r>
          </a:p>
          <a:p>
            <a:pPr>
              <a:defRPr sz="800">
                <a:solidFill>
                  <a:srgbClr val="666666"/>
                </a:solidFill>
                <a:latin typeface="Calibri"/>
              </a:defRPr>
            </a:pPr>
            <a:r>
              <a:rPr sz="800" dirty="0"/>
              <a:t>https://eu2.ca.analytics.ibm.com/bi/?perspective=dashboard&amp;id=i09D17C5FF578407A73C3B79B5123C87&amp;objRef=i09D17C5FF578407A73C3B79B5123C87</a:t>
            </a:r>
          </a:p>
        </p:txBody>
      </p:sp>
    </p:spTree>
    <p:custDataLst>
      <p:tags r:id="rId1"/>
    </p:custDataLst>
    <p:extLst>
      <p:ext uri="{BB962C8B-B14F-4D97-AF65-F5344CB8AC3E}">
        <p14:creationId xmlns:p14="http://schemas.microsoft.com/office/powerpoint/2010/main" val="20484966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r>
              <a:rPr lang="en-US" dirty="0"/>
              <a:t>DASHBOARD TAB 3: Demographics</a:t>
            </a:r>
          </a:p>
        </p:txBody>
      </p:sp>
      <p:pic>
        <p:nvPicPr>
          <p:cNvPr id="5" name="Picture 4" descr="demographics_cropped.png"/>
          <p:cNvPicPr>
            <a:picLocks noChangeAspect="1"/>
          </p:cNvPicPr>
          <p:nvPr/>
        </p:nvPicPr>
        <p:blipFill>
          <a:blip r:embed="rId3"/>
          <a:stretch>
            <a:fillRect/>
          </a:stretch>
        </p:blipFill>
        <p:spPr>
          <a:xfrm>
            <a:off x="550228" y="1463675"/>
            <a:ext cx="7132320" cy="4937760"/>
          </a:xfrm>
          <a:prstGeom prst="rect">
            <a:avLst/>
          </a:prstGeom>
        </p:spPr>
      </p:pic>
      <p:sp>
        <p:nvSpPr>
          <p:cNvPr id="6" name="Rectangle 5"/>
          <p:cNvSpPr/>
          <p:nvPr/>
        </p:nvSpPr>
        <p:spPr>
          <a:xfrm>
            <a:off x="7682548" y="1417320"/>
            <a:ext cx="4206240" cy="1463040"/>
          </a:xfrm>
          <a:prstGeom prst="rect">
            <a:avLst/>
          </a:prstGeom>
          <a:solidFill>
            <a:srgbClr val="DBE9FF"/>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400" b="1">
                <a:solidFill>
                  <a:srgbClr val="0B3D91"/>
                </a:solidFill>
                <a:latin typeface="Calibri"/>
              </a:defRPr>
            </a:pPr>
            <a:r>
              <a:rPr sz="1400" dirty="0"/>
              <a:t>📊 DASHBOARD INSIGHT</a:t>
            </a:r>
          </a:p>
          <a:p>
            <a:endParaRPr dirty="0"/>
          </a:p>
          <a:p>
            <a:pPr>
              <a:spcBef>
                <a:spcPts val="600"/>
              </a:spcBef>
              <a:defRPr sz="1100">
                <a:latin typeface="Calibri"/>
              </a:defRPr>
            </a:pPr>
            <a:r>
              <a:rPr sz="1200" dirty="0">
                <a:latin typeface="Times New Roman" panose="02020603050405020304" pitchFamily="18" charset="0"/>
                <a:cs typeface="Times New Roman" panose="02020603050405020304" pitchFamily="18" charset="0"/>
              </a:rPr>
              <a:t>This dashboard shows WHO the respondents are: Age distribution, Country distribution, Education Level, and Age colored by Education. Based on Stack Overflow survey demographic data.</a:t>
            </a:r>
          </a:p>
        </p:txBody>
      </p:sp>
      <p:sp>
        <p:nvSpPr>
          <p:cNvPr id="7" name="Rectangle 6"/>
          <p:cNvSpPr/>
          <p:nvPr/>
        </p:nvSpPr>
        <p:spPr>
          <a:xfrm>
            <a:off x="7682548" y="2995654"/>
            <a:ext cx="4206240" cy="3256059"/>
          </a:xfrm>
          <a:prstGeom prst="rect">
            <a:avLst/>
          </a:prstGeom>
          <a:solidFill>
            <a:srgbClr val="FFF5D6"/>
          </a:solidFill>
          <a:ln w="25400">
            <a:solidFill>
              <a:srgbClr val="D96C0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400" b="1">
                <a:solidFill>
                  <a:srgbClr val="7A3E00"/>
                </a:solidFill>
                <a:latin typeface="Calibri"/>
              </a:defRPr>
            </a:pPr>
            <a:r>
              <a:rPr sz="1400" dirty="0"/>
              <a:t>🔍 </a:t>
            </a:r>
            <a:r>
              <a:rPr sz="1400" dirty="0" smtClean="0"/>
              <a:t>SUMMAR</a:t>
            </a:r>
            <a:r>
              <a:rPr lang="en-US" sz="1400" dirty="0" smtClean="0"/>
              <a:t>Y </a:t>
            </a:r>
            <a:r>
              <a:rPr lang="en-US" sz="1400" dirty="0" smtClean="0"/>
              <a:t>OF</a:t>
            </a:r>
            <a:r>
              <a:rPr sz="1400" dirty="0" smtClean="0"/>
              <a:t> </a:t>
            </a:r>
            <a:r>
              <a:rPr sz="1400" dirty="0"/>
              <a:t>KEY </a:t>
            </a:r>
            <a:r>
              <a:rPr sz="1400" dirty="0" smtClean="0"/>
              <a:t>INSIGHTS</a:t>
            </a:r>
            <a:endParaRPr sz="1400" dirty="0"/>
          </a:p>
          <a:p>
            <a:endParaRPr dirty="0"/>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1</a:t>
            </a:r>
            <a:r>
              <a:rPr sz="1200" dirty="0">
                <a:latin typeface="Times New Roman" panose="02020603050405020304" pitchFamily="18" charset="0"/>
                <a:cs typeface="Times New Roman" panose="02020603050405020304" pitchFamily="18" charset="0"/>
              </a:rPr>
              <a:t>. Age: 25-34 years old is largest group (41.3%), then 35-44 (27.3%) - developers are mostly young professionals.</a:t>
            </a:r>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2</a:t>
            </a:r>
            <a:r>
              <a:rPr sz="1200" dirty="0">
                <a:latin typeface="Times New Roman" panose="02020603050405020304" pitchFamily="18" charset="0"/>
                <a:cs typeface="Times New Roman" panose="02020603050405020304" pitchFamily="18" charset="0"/>
              </a:rPr>
              <a:t>. Country: US dominates (3,441) - darkest purple on map - followed by India. Survey is US-centric.</a:t>
            </a:r>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3</a:t>
            </a:r>
            <a:r>
              <a:rPr sz="1200" dirty="0">
                <a:latin typeface="Times New Roman" panose="02020603050405020304" pitchFamily="18" charset="0"/>
                <a:cs typeface="Times New Roman" panose="02020603050405020304" pitchFamily="18" charset="0"/>
              </a:rPr>
              <a:t>. Education: Bachelor's degree highest (8,629), Master's #2 (5,000) - majority have university degrees.</a:t>
            </a:r>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4</a:t>
            </a:r>
            <a:r>
              <a:rPr sz="1200" dirty="0">
                <a:latin typeface="Times New Roman" panose="02020603050405020304" pitchFamily="18" charset="0"/>
                <a:cs typeface="Times New Roman" panose="02020603050405020304" pitchFamily="18" charset="0"/>
              </a:rPr>
              <a:t>. Age vs </a:t>
            </a:r>
            <a:r>
              <a:rPr sz="1200" dirty="0" err="1">
                <a:latin typeface="Times New Roman" panose="02020603050405020304" pitchFamily="18" charset="0"/>
                <a:cs typeface="Times New Roman" panose="02020603050405020304" pitchFamily="18" charset="0"/>
              </a:rPr>
              <a:t>EdLevel</a:t>
            </a:r>
            <a:r>
              <a:rPr sz="1200" dirty="0">
                <a:latin typeface="Times New Roman" panose="02020603050405020304" pitchFamily="18" charset="0"/>
                <a:cs typeface="Times New Roman" panose="02020603050405020304" pitchFamily="18" charset="0"/>
              </a:rPr>
              <a:t>: 25-34 age group holds most Bachelor's (brown) + Master's (light purple) degrees.</a:t>
            </a:r>
          </a:p>
          <a:p>
            <a:pPr>
              <a:spcBef>
                <a:spcPts val="600"/>
              </a:spcBef>
              <a:defRPr sz="1000">
                <a:latin typeface="Calibri"/>
              </a:defRPr>
            </a:pPr>
            <a:r>
              <a:rPr sz="1200" dirty="0" smtClean="0">
                <a:latin typeface="Times New Roman" panose="02020603050405020304" pitchFamily="18" charset="0"/>
                <a:cs typeface="Times New Roman" panose="02020603050405020304" pitchFamily="18" charset="0"/>
              </a:rPr>
              <a:t>5</a:t>
            </a:r>
            <a:r>
              <a:rPr sz="1200" dirty="0">
                <a:latin typeface="Times New Roman" panose="02020603050405020304" pitchFamily="18" charset="0"/>
                <a:cs typeface="Times New Roman" panose="02020603050405020304" pitchFamily="18" charset="0"/>
              </a:rPr>
              <a:t>. Overall: Audience = Young (25-34), US-based, Bachelor-educated developers.</a:t>
            </a:r>
          </a:p>
        </p:txBody>
      </p:sp>
      <p:sp>
        <p:nvSpPr>
          <p:cNvPr id="8" name="TextBox 7"/>
          <p:cNvSpPr txBox="1"/>
          <p:nvPr/>
        </p:nvSpPr>
        <p:spPr>
          <a:xfrm>
            <a:off x="275908" y="5669280"/>
            <a:ext cx="11612880" cy="338554"/>
          </a:xfrm>
          <a:prstGeom prst="rect">
            <a:avLst/>
          </a:prstGeom>
          <a:noFill/>
        </p:spPr>
        <p:txBody>
          <a:bodyPr wrap="square">
            <a:spAutoFit/>
          </a:bodyPr>
          <a:lstStyle/>
          <a:p>
            <a:pPr>
              <a:defRPr sz="800">
                <a:solidFill>
                  <a:srgbClr val="666666"/>
                </a:solidFill>
                <a:latin typeface="Calibri"/>
              </a:defRPr>
            </a:pPr>
            <a:r>
              <a:rPr sz="800" dirty="0"/>
              <a:t>Reference: IBM Cognos Analytics - Demographics Dashboard</a:t>
            </a:r>
          </a:p>
          <a:p>
            <a:pPr>
              <a:defRPr sz="800">
                <a:solidFill>
                  <a:srgbClr val="666666"/>
                </a:solidFill>
                <a:latin typeface="Calibri"/>
              </a:defRPr>
            </a:pPr>
            <a:r>
              <a:rPr sz="800" dirty="0"/>
              <a:t>https://eu2.ca.analytics.ibm.com/bi/?perspective=dashboard&amp;id=iC9F2D5A31EC946BF9079F7A171516461&amp;objRef=iC9F2D5A31EC946BF9079F7A171516461</a:t>
            </a:r>
          </a:p>
        </p:txBody>
      </p:sp>
    </p:spTree>
    <p:custDataLst>
      <p:tags r:id="rId1"/>
    </p:custDataLst>
    <p:extLst>
      <p:ext uri="{BB962C8B-B14F-4D97-AF65-F5344CB8AC3E}">
        <p14:creationId xmlns:p14="http://schemas.microsoft.com/office/powerpoint/2010/main" val="24056362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smtClean="0"/>
              <a:t>V.	DISCUSSION</a:t>
            </a:r>
            <a:endParaRPr lang="en-US" dirty="0"/>
          </a:p>
        </p:txBody>
      </p:sp>
      <p:sp>
        <p:nvSpPr>
          <p:cNvPr id="13" name="Rectangle 12"/>
          <p:cNvSpPr/>
          <p:nvPr/>
        </p:nvSpPr>
        <p:spPr>
          <a:xfrm>
            <a:off x="508484" y="1439187"/>
            <a:ext cx="3566160" cy="4792648"/>
          </a:xfrm>
          <a:prstGeom prst="rect">
            <a:avLst/>
          </a:prstGeom>
          <a:solidFill>
            <a:srgbClr val="F2F6FC"/>
          </a:solidFill>
          <a:ln w="19050">
            <a:solidFill>
              <a:srgbClr val="1F77B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400" b="1">
                <a:solidFill>
                  <a:srgbClr val="1F77B4"/>
                </a:solidFill>
                <a:latin typeface="Calibri"/>
              </a:defRPr>
            </a:pPr>
            <a:r>
              <a:rPr sz="1400" dirty="0" smtClean="0"/>
              <a:t>1. Current vs Future Stack</a:t>
            </a:r>
          </a:p>
          <a:p>
            <a:endParaRPr dirty="0" smtClean="0"/>
          </a:p>
          <a:p>
            <a:pPr>
              <a:spcBef>
                <a:spcPts val="800"/>
              </a:spcBef>
              <a:defRPr sz="1000">
                <a:latin typeface="Calibri"/>
              </a:defRPr>
            </a:pPr>
            <a:r>
              <a:rPr sz="1200" dirty="0" smtClean="0">
                <a:latin typeface="Times New Roman" panose="02020603050405020304" pitchFamily="18" charset="0"/>
                <a:cs typeface="Times New Roman" panose="02020603050405020304" pitchFamily="18" charset="0"/>
              </a:rPr>
              <a:t>• </a:t>
            </a:r>
            <a:r>
              <a:rPr sz="1200" dirty="0">
                <a:latin typeface="Times New Roman" panose="02020603050405020304" pitchFamily="18" charset="0"/>
                <a:cs typeface="Times New Roman" panose="02020603050405020304" pitchFamily="18" charset="0"/>
              </a:rPr>
              <a:t>Current = JavaScript/</a:t>
            </a:r>
            <a:r>
              <a:rPr sz="1200" dirty="0" err="1">
                <a:latin typeface="Times New Roman" panose="02020603050405020304" pitchFamily="18" charset="0"/>
                <a:cs typeface="Times New Roman" panose="02020603050405020304" pitchFamily="18" charset="0"/>
              </a:rPr>
              <a:t>TypeScript</a:t>
            </a:r>
            <a:r>
              <a:rPr sz="1200" dirty="0">
                <a:latin typeface="Times New Roman" panose="02020603050405020304" pitchFamily="18" charset="0"/>
                <a:cs typeface="Times New Roman" panose="02020603050405020304" pitchFamily="18" charset="0"/>
              </a:rPr>
              <a:t>, PostgreSQL (994), AWS (2,391), Spring Boot/React.</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Future = Same leaders stay: TypeScript full-stack (230), PostgreSQL (1,265), AWS (2,362), Spring Boot still #1.</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Key shift: From Microsoft SQL (689) to PostgreSQL + Redis (446) - move to open-source + caching.</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Language trend: HTML/CSS/JS/PHP drops (129) → TypeScript-focused stacks rise.</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Implication: Stack is stable - learn PostgreSQL, TypeScript, AWS, React/Spring.</a:t>
            </a:r>
          </a:p>
        </p:txBody>
      </p:sp>
      <p:sp>
        <p:nvSpPr>
          <p:cNvPr id="14" name="Rectangle 13"/>
          <p:cNvSpPr/>
          <p:nvPr/>
        </p:nvSpPr>
        <p:spPr>
          <a:xfrm>
            <a:off x="4348964" y="1439187"/>
            <a:ext cx="3566160" cy="4792648"/>
          </a:xfrm>
          <a:prstGeom prst="rect">
            <a:avLst/>
          </a:prstGeom>
          <a:solidFill>
            <a:srgbClr val="FFF5D6"/>
          </a:solidFill>
          <a:ln w="19050">
            <a:solidFill>
              <a:srgbClr val="D96C0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400" b="1">
                <a:solidFill>
                  <a:srgbClr val="7A3E00"/>
                </a:solidFill>
                <a:latin typeface="Calibri"/>
              </a:defRPr>
            </a:pPr>
            <a:r>
              <a:rPr sz="1400" dirty="0"/>
              <a:t>2. Who is Using These Technologies?</a:t>
            </a:r>
          </a:p>
          <a:p>
            <a:endParaRPr dirty="0"/>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Age: 25-34 is core audience (41.3%) + 35-44 (27.3%) = 68% are 25-44 young professionals.</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Education: 8,629 Bachelor's + 5,000 Master's = Highly educated workforce.</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Country: US (3,441) dominates - data is US-centric, but India rising in future trends.</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Age x Education: 25-34 holds most Bachelor's &amp; Master's degrees - entry to mid-level devs.</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Implication: Tools like AWS, PostgreSQL, TypeScript target educated young pros - need easy learning curve.</a:t>
            </a:r>
          </a:p>
        </p:txBody>
      </p:sp>
      <p:sp>
        <p:nvSpPr>
          <p:cNvPr id="15" name="Rectangle 14"/>
          <p:cNvSpPr/>
          <p:nvPr/>
        </p:nvSpPr>
        <p:spPr>
          <a:xfrm>
            <a:off x="8189444" y="1439187"/>
            <a:ext cx="3602736" cy="4792648"/>
          </a:xfrm>
          <a:prstGeom prst="rect">
            <a:avLst/>
          </a:prstGeom>
          <a:solidFill>
            <a:srgbClr val="E6F4EA"/>
          </a:solidFill>
          <a:ln w="19050">
            <a:solidFill>
              <a:srgbClr val="1E8E3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1400" b="1">
                <a:solidFill>
                  <a:srgbClr val="1E8E3E"/>
                </a:solidFill>
                <a:latin typeface="Calibri"/>
              </a:defRPr>
            </a:pPr>
            <a:r>
              <a:rPr sz="1400" dirty="0"/>
              <a:t>3. Overall Strategic Insights</a:t>
            </a:r>
          </a:p>
          <a:p>
            <a:endParaRPr dirty="0"/>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Open-source wins: PostgreSQL beats Microsoft SQL &amp; Oracle in current AND future - companies saving license costs.</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Cloud consolidation: AWS is 2,391 vs Azure - AWS is 10x leader now and future (2,362) - multi-cloud with AWS core.</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Full-stack TypeScript: Future desire moves to C#;HTML/CSS/JS/SQL/TS (230) - TypeScript is the bridge.</a:t>
            </a: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Java + React remains enterprise standard: Spring Boot biggest in both Current and Future </a:t>
            </a:r>
            <a:r>
              <a:rPr sz="1200" dirty="0" smtClean="0">
                <a:latin typeface="Times New Roman" panose="02020603050405020304" pitchFamily="18" charset="0"/>
                <a:cs typeface="Times New Roman" panose="02020603050405020304" pitchFamily="18" charset="0"/>
              </a:rPr>
              <a:t>web frames.</a:t>
            </a:r>
            <a:endParaRPr sz="1200" dirty="0">
              <a:latin typeface="Times New Roman" panose="02020603050405020304" pitchFamily="18" charset="0"/>
              <a:cs typeface="Times New Roman" panose="02020603050405020304" pitchFamily="18" charset="0"/>
            </a:endParaRPr>
          </a:p>
          <a:p>
            <a:pPr>
              <a:spcBef>
                <a:spcPts val="800"/>
              </a:spcBef>
              <a:defRPr sz="1000">
                <a:latin typeface="Calibri"/>
              </a:defRPr>
            </a:pPr>
            <a:r>
              <a:rPr sz="1200" dirty="0">
                <a:latin typeface="Times New Roman" panose="02020603050405020304" pitchFamily="18" charset="0"/>
                <a:cs typeface="Times New Roman" panose="02020603050405020304" pitchFamily="18" charset="0"/>
              </a:rPr>
              <a:t>• Recommendation: For career - Master PostgreSQL + TypeScript + AWS + React/Spring Boot. This stack serves the main audience (25-44, Bachelor's, US) and is future-proof.</a:t>
            </a:r>
          </a:p>
        </p:txBody>
      </p:sp>
    </p:spTree>
    <p:custDataLst>
      <p:tags r:id="rId1"/>
    </p:custDataLst>
    <p:extLst>
      <p:ext uri="{BB962C8B-B14F-4D97-AF65-F5344CB8AC3E}">
        <p14:creationId xmlns:p14="http://schemas.microsoft.com/office/powerpoint/2010/main" val="8573335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smtClean="0"/>
              <a:t>VI.	OVERALL </a:t>
            </a:r>
            <a:r>
              <a:rPr lang="en-US" dirty="0"/>
              <a:t>FINDINGS &amp; IMPLICATIONS</a:t>
            </a:r>
          </a:p>
        </p:txBody>
      </p:sp>
      <p:sp>
        <p:nvSpPr>
          <p:cNvPr id="6" name="Rectangle 5"/>
          <p:cNvSpPr/>
          <p:nvPr/>
        </p:nvSpPr>
        <p:spPr>
          <a:xfrm>
            <a:off x="458788" y="1560444"/>
            <a:ext cx="5486400" cy="4621695"/>
          </a:xfrm>
          <a:prstGeom prst="rect">
            <a:avLst/>
          </a:prstGeom>
          <a:solidFill>
            <a:srgbClr val="F2F6FC"/>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2000" b="1">
                <a:solidFill>
                  <a:srgbClr val="1F77B4"/>
                </a:solidFill>
                <a:latin typeface="Calibri"/>
              </a:defRPr>
            </a:pPr>
            <a:r>
              <a:rPr sz="2000" dirty="0"/>
              <a:t>Findings</a:t>
            </a:r>
          </a:p>
          <a:p>
            <a:endParaRPr dirty="0"/>
          </a:p>
          <a:p>
            <a:pPr>
              <a:spcBef>
                <a:spcPts val="1800"/>
              </a:spcBef>
              <a:spcAft>
                <a:spcPts val="600"/>
              </a:spcAft>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Finding 1 - PostgreSQL and AWS Dominate Current and Future: PostgreSQL is #1 Current (994) and #1 Future (1,265), AWS is 2,391 Current and 2,362 Future. Both are 2x-10x bigger than competitors. Microsoft SQL Server drops from 689 to 622, Oracle drops out of Top 10.</a:t>
            </a:r>
          </a:p>
          <a:p>
            <a:pPr>
              <a:spcBef>
                <a:spcPts val="1800"/>
              </a:spcBef>
              <a:spcAft>
                <a:spcPts val="600"/>
              </a:spcAft>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Finding 2 - TypeScript Full-Stack and Spring Boot + React is Standard: Current top is HTML/CSS/JS/SQL/TypeScript (291), Future top is C#;HTML/CSS/JS/SQL/TypeScript (230) and HTML/CSS/JS/TypeScript (217). Spring Boot is biggest </a:t>
            </a:r>
            <a:r>
              <a:rPr sz="1200" dirty="0" smtClean="0">
                <a:latin typeface="Times New Roman" panose="02020603050405020304" pitchFamily="18" charset="0"/>
                <a:cs typeface="Times New Roman" panose="02020603050405020304" pitchFamily="18" charset="0"/>
              </a:rPr>
              <a:t>web frame </a:t>
            </a:r>
            <a:r>
              <a:rPr sz="1200" dirty="0">
                <a:latin typeface="Times New Roman" panose="02020603050405020304" pitchFamily="18" charset="0"/>
                <a:cs typeface="Times New Roman" panose="02020603050405020304" pitchFamily="18" charset="0"/>
              </a:rPr>
              <a:t>Current (398) and Future (443), React is second. Full-stack TypeScript is now required.</a:t>
            </a:r>
          </a:p>
          <a:p>
            <a:pPr>
              <a:spcBef>
                <a:spcPts val="1800"/>
              </a:spcBef>
              <a:spcAft>
                <a:spcPts val="600"/>
              </a:spcAft>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Finding 3 - Audience is Young, Educated, US-Centric: 41.3% are 25-34 years old + 27.3% 35-44 = 68% are young professionals. Education: 8,629 Bachelor's degree, 5,000 Master's. Country: US 3,441 dominates, with India and UK next. This explains preference for modern open-source tools like PostgreSQL + Redis (446 future) and Supabase entering Top 10.</a:t>
            </a:r>
          </a:p>
        </p:txBody>
      </p:sp>
      <p:sp>
        <p:nvSpPr>
          <p:cNvPr id="8" name="Rectangle 7"/>
          <p:cNvSpPr/>
          <p:nvPr/>
        </p:nvSpPr>
        <p:spPr>
          <a:xfrm>
            <a:off x="6246940" y="1570383"/>
            <a:ext cx="5486400" cy="4611756"/>
          </a:xfrm>
          <a:prstGeom prst="rect">
            <a:avLst/>
          </a:prstGeom>
          <a:solidFill>
            <a:srgbClr val="E6F4EA"/>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defRPr sz="2000" b="1">
                <a:solidFill>
                  <a:srgbClr val="1E8E3E"/>
                </a:solidFill>
                <a:latin typeface="Calibri"/>
              </a:defRPr>
            </a:pPr>
            <a:r>
              <a:rPr sz="2000" dirty="0"/>
              <a:t>Implications</a:t>
            </a:r>
          </a:p>
          <a:p>
            <a:endParaRPr dirty="0"/>
          </a:p>
          <a:p>
            <a:pPr>
              <a:spcBef>
                <a:spcPts val="1800"/>
              </a:spcBef>
              <a:spcAft>
                <a:spcPts val="600"/>
              </a:spcAft>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Implication 1 - For Developers and Job Seekers: Learn PostgreSQL + TypeScript + AWS + Spring Boot/React. This is the most future-proof stack for the main audience (25-34, Bachelor's). Avoid investing heavily in Oracle or pure PHP stacks (drops from 129 to 90). Add Redis and Supabase for modern projects.</a:t>
            </a:r>
          </a:p>
          <a:p>
            <a:pPr>
              <a:spcBef>
                <a:spcPts val="1800"/>
              </a:spcBef>
              <a:spcAft>
                <a:spcPts val="600"/>
              </a:spcAft>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Implication 2 - For Companies and Startups: Cut costs by migrating from proprietary databases (Oracle, Microsoft SQL Server) to open-source PostgreSQL and Supabase. Standardize cloud on AWS as primary with Azure secondary. Use TypeScript to reduce bugs and Spring Boot + React for enterprise-grade applications that are #1 now and in future.</a:t>
            </a:r>
          </a:p>
          <a:p>
            <a:pPr>
              <a:spcBef>
                <a:spcPts val="1800"/>
              </a:spcBef>
              <a:spcAft>
                <a:spcPts val="600"/>
              </a:spcAft>
              <a:defRPr sz="1150">
                <a:solidFill>
                  <a:srgbClr val="222222"/>
                </a:solidFill>
                <a:latin typeface="Calibri"/>
              </a:defRPr>
            </a:pPr>
            <a:r>
              <a:rPr sz="1200" dirty="0">
                <a:latin typeface="Times New Roman" panose="02020603050405020304" pitchFamily="18" charset="0"/>
                <a:cs typeface="Times New Roman" panose="02020603050405020304" pitchFamily="18" charset="0"/>
              </a:rPr>
              <a:t>Implication 3 - For Industry and Education: The industry is shifting to open-source, cloud-native, and TypeScript-based development. Educational programs should focus on PostgreSQL, AWS Cloud, TypeScript full-stack, and using Cognos dashboards for data analysis. Companies targeting young, educated US developers must provide easy-to-learn, cloud-based tools.</a:t>
            </a:r>
          </a:p>
        </p:txBody>
      </p:sp>
    </p:spTree>
    <p:custDataLst>
      <p:tags r:id="rId1"/>
    </p:custDataLst>
    <p:extLst>
      <p:ext uri="{BB962C8B-B14F-4D97-AF65-F5344CB8AC3E}">
        <p14:creationId xmlns:p14="http://schemas.microsoft.com/office/powerpoint/2010/main" val="38656372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smtClean="0"/>
              <a:t>VII.	CONCLUSION</a:t>
            </a:r>
            <a:endParaRPr lang="en-US" dirty="0"/>
          </a:p>
        </p:txBody>
      </p:sp>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1182757" y="1825625"/>
            <a:ext cx="1031681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600" dirty="0" smtClean="0">
                <a:latin typeface="Times New Roman" panose="02020603050405020304" pitchFamily="18" charset="0"/>
                <a:cs typeface="Times New Roman" panose="02020603050405020304" pitchFamily="18" charset="0"/>
              </a:rPr>
              <a:t>Successfully </a:t>
            </a:r>
            <a:r>
              <a:rPr lang="en-US" sz="1600" dirty="0">
                <a:latin typeface="Times New Roman" panose="02020603050405020304" pitchFamily="18" charset="0"/>
                <a:cs typeface="Times New Roman" panose="02020603050405020304" pitchFamily="18" charset="0"/>
              </a:rPr>
              <a:t>executed a full data analysis lifecycle, from collecting data via APIs and web scraping to data wrangling, exploratory analysis, and visualization.</a:t>
            </a:r>
          </a:p>
          <a:p>
            <a:r>
              <a:rPr lang="en-US" sz="1600" dirty="0">
                <a:latin typeface="Times New Roman" panose="02020603050405020304" pitchFamily="18" charset="0"/>
                <a:cs typeface="Times New Roman" panose="02020603050405020304" pitchFamily="18" charset="0"/>
              </a:rPr>
              <a:t>Identified dominant technologies in current use and emerging trends showing high interest in modern open-source and cloud technologies.</a:t>
            </a:r>
          </a:p>
          <a:p>
            <a:r>
              <a:rPr lang="en-US" sz="1600" dirty="0">
                <a:latin typeface="Times New Roman" panose="02020603050405020304" pitchFamily="18" charset="0"/>
                <a:cs typeface="Times New Roman" panose="02020603050405020304" pitchFamily="18" charset="0"/>
              </a:rPr>
              <a:t>Analyzed demographic distribution and its correlation with education, age, and compensation.</a:t>
            </a:r>
          </a:p>
          <a:p>
            <a:r>
              <a:rPr lang="en-US" sz="1600" dirty="0">
                <a:latin typeface="Times New Roman" panose="02020603050405020304" pitchFamily="18" charset="0"/>
                <a:cs typeface="Times New Roman" panose="02020603050405020304" pitchFamily="18" charset="0"/>
              </a:rPr>
              <a:t>Built interactive dashboards in IBM Cognos using multiple chart types — Bar, Column, Word Cloud, Bubble, Tree Map, Pie, Map, Line, and Stacked Bar — to communicate insights effectively.</a:t>
            </a:r>
          </a:p>
          <a:p>
            <a:r>
              <a:rPr lang="en-US" sz="1600" dirty="0">
                <a:latin typeface="Times New Roman" panose="02020603050405020304" pitchFamily="18" charset="0"/>
                <a:cs typeface="Times New Roman" panose="02020603050405020304" pitchFamily="18" charset="0"/>
              </a:rPr>
              <a:t>The project demonstrates practical skills in data cleaning (handling missing values, duplicates, normalization) and storytelling with data.</a:t>
            </a:r>
          </a:p>
          <a:p>
            <a:pPr marL="0" indent="0">
              <a:buNone/>
            </a:pPr>
            <a:endParaRPr lang="en-US" sz="1600" b="1" dirty="0" smtClean="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   Next </a:t>
            </a:r>
            <a:r>
              <a:rPr lang="en-US" sz="1600" b="1" dirty="0">
                <a:latin typeface="Times New Roman" panose="02020603050405020304" pitchFamily="18" charset="0"/>
                <a:cs typeface="Times New Roman" panose="02020603050405020304" pitchFamily="18" charset="0"/>
              </a:rPr>
              <a:t>Steps:</a:t>
            </a:r>
            <a:r>
              <a:rPr lang="en-US" sz="1600" dirty="0">
                <a:latin typeface="Times New Roman" panose="02020603050405020304" pitchFamily="18" charset="0"/>
                <a:cs typeface="Times New Roman" panose="02020603050405020304" pitchFamily="18" charset="0"/>
              </a:rPr>
              <a:t> Expand the dataset, automate dashboard updates, and include deeper predictive analysis for future skill </a:t>
            </a:r>
            <a:r>
              <a:rPr lang="en-US" sz="1600" dirty="0" smtClean="0">
                <a:latin typeface="Times New Roman" panose="02020603050405020304" pitchFamily="18" charset="0"/>
                <a:cs typeface="Times New Roman" panose="02020603050405020304" pitchFamily="18" charset="0"/>
              </a:rPr>
              <a:t>   demand</a:t>
            </a:r>
            <a:r>
              <a:rPr lang="en-US" sz="1600" dirty="0">
                <a:latin typeface="Times New Roman" panose="02020603050405020304" pitchFamily="18" charset="0"/>
                <a:cs typeface="Times New Roman" panose="02020603050405020304" pitchFamily="18" charset="0"/>
              </a:rPr>
              <a:t>.</a:t>
            </a:r>
          </a:p>
        </p:txBody>
      </p:sp>
    </p:spTree>
    <p:custDataLst>
      <p:tags r:id="rId1"/>
    </p:custDataLst>
    <p:extLst>
      <p:ext uri="{BB962C8B-B14F-4D97-AF65-F5344CB8AC3E}">
        <p14:creationId xmlns:p14="http://schemas.microsoft.com/office/powerpoint/2010/main" val="8403782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548640"/>
          </a:xfrm>
          <a:prstGeom prst="rect">
            <a:avLst/>
          </a:prstGeom>
          <a:noFill/>
        </p:spPr>
        <p:txBody>
          <a:bodyPr wrap="square">
            <a:spAutoFit/>
          </a:bodyPr>
          <a:lstStyle/>
          <a:p>
            <a:pPr>
              <a:defRPr sz="2800" b="1">
                <a:solidFill>
                  <a:srgbClr val="2D3782"/>
                </a:solidFill>
              </a:defRPr>
            </a:pPr>
            <a:r>
              <a:t>VIII. APPENDIX</a:t>
            </a:r>
          </a:p>
        </p:txBody>
      </p:sp>
      <p:sp>
        <p:nvSpPr>
          <p:cNvPr id="3" name="Rectangle 2"/>
          <p:cNvSpPr/>
          <p:nvPr/>
        </p:nvSpPr>
        <p:spPr>
          <a:xfrm>
            <a:off x="457200" y="822960"/>
            <a:ext cx="7772400" cy="25400"/>
          </a:xfrm>
          <a:prstGeom prst="rect">
            <a:avLst/>
          </a:prstGeom>
          <a:solidFill>
            <a:srgbClr val="B4A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19" y="1045089"/>
            <a:ext cx="8104367" cy="4113947"/>
          </a:xfrm>
          <a:prstGeom prst="rect">
            <a:avLst/>
          </a:prstGeom>
          <a:noFill/>
        </p:spPr>
        <p:txBody>
          <a:bodyPr wrap="square">
            <a:spAutoFit/>
          </a:bodyPr>
          <a:lstStyle/>
          <a:p>
            <a:endParaRPr sz="1400" dirty="0" smtClean="0">
              <a:latin typeface="Times New Roman" panose="02020603050405020304" pitchFamily="18" charset="0"/>
              <a:cs typeface="Times New Roman" panose="02020603050405020304" pitchFamily="18" charset="0"/>
            </a:endParaRPr>
          </a:p>
          <a:p>
            <a:pPr>
              <a:spcAft>
                <a:spcPts val="200"/>
              </a:spcAft>
              <a:defRPr sz="1200">
                <a:solidFill>
                  <a:srgbClr val="282828"/>
                </a:solidFill>
              </a:defRPr>
            </a:pPr>
            <a:r>
              <a:rPr lang="en-US" sz="1400" dirty="0">
                <a:latin typeface="Times New Roman" panose="02020603050405020304" pitchFamily="18" charset="0"/>
                <a:cs typeface="Times New Roman" panose="02020603050405020304" pitchFamily="18" charset="0"/>
              </a:rPr>
              <a:t>R</a:t>
            </a:r>
            <a:r>
              <a:rPr sz="1400" dirty="0" smtClean="0">
                <a:latin typeface="Times New Roman" panose="02020603050405020304" pitchFamily="18" charset="0"/>
                <a:cs typeface="Times New Roman" panose="02020603050405020304" pitchFamily="18" charset="0"/>
              </a:rPr>
              <a:t>elevant additional charts or tables created during analysis:</a:t>
            </a:r>
          </a:p>
          <a:p>
            <a:pPr>
              <a:spcAft>
                <a:spcPts val="200"/>
              </a:spcAft>
              <a:defRPr sz="1200">
                <a:solidFill>
                  <a:srgbClr val="282828"/>
                </a:solidFill>
              </a:defRPr>
            </a:pPr>
            <a:endParaRPr lang="en-US" sz="1400" dirty="0" smtClean="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a:spcAft>
                <a:spcPts val="200"/>
              </a:spcAft>
              <a:defRPr sz="1200">
                <a:solidFill>
                  <a:srgbClr val="282828"/>
                </a:solidFill>
              </a:defRPr>
            </a:pPr>
            <a:r>
              <a:rPr lang="en-US" sz="1400" dirty="0">
                <a:latin typeface="Times New Roman" panose="02020603050405020304" pitchFamily="18" charset="0"/>
                <a:cs typeface="Times New Roman" panose="02020603050405020304" pitchFamily="18" charset="0"/>
              </a:rPr>
              <a:t>• Dashboard Links:</a:t>
            </a:r>
          </a:p>
          <a:p>
            <a:pPr>
              <a:spcAft>
                <a:spcPts val="200"/>
              </a:spcAft>
              <a:defRPr sz="1200">
                <a:solidFill>
                  <a:srgbClr val="282828"/>
                </a:solidFill>
              </a:defRPr>
            </a:pPr>
            <a:r>
              <a:rPr lang="en-US" sz="1400" dirty="0">
                <a:latin typeface="Times New Roman" panose="02020603050405020304" pitchFamily="18" charset="0"/>
                <a:cs typeface="Times New Roman" panose="02020603050405020304" pitchFamily="18" charset="0"/>
              </a:rPr>
              <a:t>  - Current Technology Usage Dashboard</a:t>
            </a:r>
          </a:p>
          <a:p>
            <a:pPr>
              <a:spcAft>
                <a:spcPts val="200"/>
              </a:spcAft>
              <a:defRPr sz="1200">
                <a:solidFill>
                  <a:srgbClr val="282828"/>
                </a:solidFill>
              </a:defRPr>
            </a:pPr>
            <a:r>
              <a:rPr lang="en-US" sz="1400" dirty="0">
                <a:latin typeface="Times New Roman" panose="02020603050405020304" pitchFamily="18" charset="0"/>
                <a:cs typeface="Times New Roman" panose="02020603050405020304" pitchFamily="18" charset="0"/>
              </a:rPr>
              <a:t>  - Future Technology Trends Dashboard</a:t>
            </a:r>
          </a:p>
          <a:p>
            <a:pPr>
              <a:spcAft>
                <a:spcPts val="200"/>
              </a:spcAft>
              <a:defRPr sz="1200">
                <a:solidFill>
                  <a:srgbClr val="282828"/>
                </a:solidFill>
              </a:defRPr>
            </a:pPr>
            <a:r>
              <a:rPr lang="en-US" sz="1400" dirty="0">
                <a:latin typeface="Times New Roman" panose="02020603050405020304" pitchFamily="18" charset="0"/>
                <a:cs typeface="Times New Roman" panose="02020603050405020304" pitchFamily="18" charset="0"/>
              </a:rPr>
              <a:t>  - Demographics Dashboard</a:t>
            </a:r>
          </a:p>
          <a:p>
            <a:pPr>
              <a:spcAft>
                <a:spcPts val="200"/>
              </a:spcAft>
              <a:defRPr sz="1200">
                <a:solidFill>
                  <a:srgbClr val="282828"/>
                </a:solidFill>
              </a:defRPr>
            </a:pPr>
            <a:r>
              <a:rPr lang="en-US" sz="1400" dirty="0">
                <a:latin typeface="Times New Roman" panose="02020603050405020304" pitchFamily="18" charset="0"/>
                <a:cs typeface="Times New Roman" panose="02020603050405020304" pitchFamily="18" charset="0"/>
              </a:rPr>
              <a:t>  Reference: IBM Cognos Analytics</a:t>
            </a:r>
          </a:p>
          <a:p>
            <a:pPr>
              <a:spcAft>
                <a:spcPts val="200"/>
              </a:spcAft>
              <a:defRPr sz="1200">
                <a:solidFill>
                  <a:srgbClr val="282828"/>
                </a:solidFill>
              </a:defRPr>
            </a:pPr>
            <a:endParaRPr lang="en-US" sz="1400" dirty="0">
              <a:latin typeface="Times New Roman" panose="02020603050405020304" pitchFamily="18" charset="0"/>
              <a:cs typeface="Times New Roman" panose="02020603050405020304" pitchFamily="18" charset="0"/>
            </a:endParaRPr>
          </a:p>
          <a:p>
            <a:pPr>
              <a:spcAft>
                <a:spcPts val="200"/>
              </a:spcAft>
              <a:defRPr sz="1200">
                <a:solidFill>
                  <a:srgbClr val="282828"/>
                </a:solidFill>
              </a:defRPr>
            </a:pPr>
            <a:r>
              <a:rPr lang="en-US" sz="1400" dirty="0">
                <a:latin typeface="Times New Roman" panose="02020603050405020304" pitchFamily="18" charset="0"/>
                <a:cs typeface="Times New Roman" panose="02020603050405020304" pitchFamily="18" charset="0"/>
              </a:rPr>
              <a:t>• Tools &amp; Libraries Used:</a:t>
            </a:r>
          </a:p>
          <a:p>
            <a:pPr>
              <a:spcAft>
                <a:spcPts val="200"/>
              </a:spcAft>
              <a:defRPr sz="1200">
                <a:solidFill>
                  <a:srgbClr val="282828"/>
                </a:solidFill>
              </a:defRPr>
            </a:pPr>
            <a:r>
              <a:rPr lang="en-US" sz="1400" dirty="0">
                <a:latin typeface="Times New Roman" panose="02020603050405020304" pitchFamily="18" charset="0"/>
                <a:cs typeface="Times New Roman" panose="02020603050405020304" pitchFamily="18" charset="0"/>
              </a:rPr>
              <a:t>  - Python: Pandas, Matplotlib, Requests, </a:t>
            </a:r>
            <a:r>
              <a:rPr lang="en-US" sz="1400" dirty="0" smtClean="0">
                <a:latin typeface="Times New Roman" panose="02020603050405020304" pitchFamily="18" charset="0"/>
                <a:cs typeface="Times New Roman" panose="02020603050405020304" pitchFamily="18" charset="0"/>
              </a:rPr>
              <a:t>  BeautifulSoup</a:t>
            </a:r>
            <a:endParaRPr lang="en-US" sz="1400" dirty="0">
              <a:latin typeface="Times New Roman" panose="02020603050405020304" pitchFamily="18" charset="0"/>
              <a:cs typeface="Times New Roman" panose="02020603050405020304" pitchFamily="18" charset="0"/>
            </a:endParaRPr>
          </a:p>
          <a:p>
            <a:pPr>
              <a:spcAft>
                <a:spcPts val="200"/>
              </a:spcAft>
              <a:defRPr sz="1200">
                <a:solidFill>
                  <a:srgbClr val="282828"/>
                </a:solidFill>
              </a:defRPr>
            </a:pPr>
            <a:r>
              <a:rPr lang="en-US" sz="1400" dirty="0">
                <a:latin typeface="Times New Roman" panose="02020603050405020304" pitchFamily="18" charset="0"/>
                <a:cs typeface="Times New Roman" panose="02020603050405020304" pitchFamily="18" charset="0"/>
              </a:rPr>
              <a:t>  - IBM Cognos Analytics, GitHub</a:t>
            </a:r>
          </a:p>
          <a:p>
            <a:pPr>
              <a:spcAft>
                <a:spcPts val="200"/>
              </a:spcAft>
              <a:defRPr sz="1200">
                <a:solidFill>
                  <a:srgbClr val="282828"/>
                </a:solidFill>
              </a:defRPr>
            </a:pPr>
            <a:endParaRPr lang="en-US" sz="1400" dirty="0">
              <a:latin typeface="Times New Roman" panose="02020603050405020304" pitchFamily="18" charset="0"/>
              <a:cs typeface="Times New Roman" panose="02020603050405020304" pitchFamily="18" charset="0"/>
            </a:endParaRPr>
          </a:p>
          <a:p>
            <a:pPr>
              <a:spcAft>
                <a:spcPts val="200"/>
              </a:spcAft>
              <a:defRPr sz="1200">
                <a:solidFill>
                  <a:srgbClr val="282828"/>
                </a:solidFill>
              </a:defRPr>
            </a:pPr>
            <a:endParaRPr sz="1400" dirty="0">
              <a:latin typeface="Times New Roman" panose="02020603050405020304" pitchFamily="18" charset="0"/>
              <a:cs typeface="Times New Roman" panose="02020603050405020304" pitchFamily="18" charset="0"/>
            </a:endParaRPr>
          </a:p>
          <a:p>
            <a:pPr>
              <a:spcAft>
                <a:spcPts val="200"/>
              </a:spcAft>
              <a:defRPr sz="1200">
                <a:solidFill>
                  <a:srgbClr val="282828"/>
                </a:solidFill>
              </a:defRPr>
            </a:pPr>
            <a:endParaRPr sz="1400" dirty="0">
              <a:latin typeface="Times New Roman" panose="02020603050405020304" pitchFamily="18" charset="0"/>
              <a:cs typeface="Times New Roman" panose="02020603050405020304" pitchFamily="18" charset="0"/>
            </a:endParaRPr>
          </a:p>
          <a:p>
            <a:pPr>
              <a:spcAft>
                <a:spcPts val="200"/>
              </a:spcAft>
              <a:defRPr sz="1200">
                <a:solidFill>
                  <a:srgbClr val="282828"/>
                </a:solidFill>
              </a:defRPr>
            </a:pPr>
            <a:endParaRPr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81624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http://schemas.microsoft.com/office/2006/metadata/properties"/>
    <ds:schemaRef ds:uri="http://purl.org/dc/elements/1.1/"/>
    <ds:schemaRef ds:uri="f80a141d-92ca-4d3d-9308-f7e7b1d44ce8"/>
    <ds:schemaRef ds:uri="155be751-a274-42e8-93fb-f39d3b9bccc8"/>
    <ds:schemaRef ds:uri="http://www.w3.org/XML/1998/namespace"/>
    <ds:schemaRef ds:uri="http://purl.org/dc/dcmitype/"/>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3705</TotalTime>
  <Words>2187</Words>
  <Application>Microsoft Office PowerPoint</Application>
  <PresentationFormat>Widescreen</PresentationFormat>
  <Paragraphs>203</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Helv</vt:lpstr>
      <vt:lpstr>IBM Plex Mono</vt:lpstr>
      <vt:lpstr>IBM Plex Sans</vt:lpstr>
      <vt:lpstr>IBM Plex Sans SemiBold</vt:lpstr>
      <vt:lpstr>Times New Roman</vt:lpstr>
      <vt:lpstr>Wingdings</vt:lpstr>
      <vt:lpstr>SLIDE_TEMPLATE_skill_network</vt:lpstr>
      <vt:lpstr>  End-to-End Exploration from Data Collection to Interactive Dashboarding</vt:lpstr>
      <vt:lpstr>PowerPoint Presentation</vt:lpstr>
      <vt:lpstr>I. EXECUTIVE SUMMARY</vt:lpstr>
      <vt:lpstr>II. INTRODUCTION</vt:lpstr>
      <vt:lpstr>III. Methodology</vt:lpstr>
      <vt:lpstr>PowerPoint Presentation</vt:lpstr>
      <vt:lpstr> A. JOB POSTINGS</vt:lpstr>
      <vt:lpstr>B. POPULAR LANGUAGES</vt:lpstr>
      <vt:lpstr>C. PROGRAMMING LANGUAGE TRENDS</vt:lpstr>
      <vt:lpstr>PROGRAMMING LANGUAGE TRENDS - FINDINGS &amp; IMPLICATIONS</vt:lpstr>
      <vt:lpstr>D. DATABASE TRENDS</vt:lpstr>
      <vt:lpstr>DATABASE TRENDS - FINDINGS &amp; IMPLICATIONS</vt:lpstr>
      <vt:lpstr>PowerPoint Presentation</vt:lpstr>
      <vt:lpstr>DASHBOARD TAB 1: Current Technology Usage</vt:lpstr>
      <vt:lpstr>DASHBOARD TAB 2: Future Technology Trends</vt:lpstr>
      <vt:lpstr>DASHBOARD TAB 3: Demographics</vt:lpstr>
      <vt:lpstr>V. DISCUSSION</vt:lpstr>
      <vt:lpstr>VI. OVERALL FINDINGS &amp; IMPLICATIONS</vt:lpstr>
      <vt:lpstr>VII.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Tori Sleeper</dc:creator>
  <cp:lastModifiedBy>Maher</cp:lastModifiedBy>
  <cp:revision>45</cp:revision>
  <dcterms:created xsi:type="dcterms:W3CDTF">2024-10-30T05:40:03Z</dcterms:created>
  <dcterms:modified xsi:type="dcterms:W3CDTF">2026-08-16T21:44:14Z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